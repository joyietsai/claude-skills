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1" r:id="rId4"/>
    <p:sldId id="295" r:id="rId5"/>
    <p:sldId id="293" r:id="rId6"/>
    <p:sldId id="294" r:id="rId7"/>
    <p:sldId id="292" r:id="rId8"/>
    <p:sldId id="261" r:id="rId9"/>
    <p:sldId id="272" r:id="rId10"/>
    <p:sldId id="273" r:id="rId11"/>
    <p:sldId id="266" r:id="rId12"/>
  </p:sldIdLst>
  <p:sldSz cx="12192000" cy="6858000"/>
  <p:notesSz cx="6858000" cy="9144000"/>
  <p:embeddedFontLst>
    <p:embeddedFont>
      <p:font typeface="Lato" panose="020F0502020204030203" pitchFamily="34" charset="0"/>
      <p:regular r:id="rId14"/>
      <p:bold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  <p:embeddedFont>
      <p:font typeface="Verdana" panose="020B0604030504040204" pitchFamily="34" charset="0"/>
      <p:regular r:id="rId24"/>
      <p:bold r:id="rId25"/>
      <p:italic r:id="rId26"/>
      <p:boldItalic r:id="rId27"/>
    </p:embeddedFont>
  </p:embeddedFontLst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63BA"/>
    <a:srgbClr val="FF737F"/>
    <a:srgbClr val="3F3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20"/>
    <p:restoredTop sz="96327"/>
  </p:normalViewPr>
  <p:slideViewPr>
    <p:cSldViewPr snapToGrid="0" snapToObjects="1">
      <p:cViewPr varScale="1">
        <p:scale>
          <a:sx n="123" d="100"/>
          <a:sy n="123" d="100"/>
        </p:scale>
        <p:origin x="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625AB-68A5-6440-9966-A348AC2DDA93}" type="datetimeFigureOut">
              <a:rPr lang="en-TW" smtClean="0"/>
              <a:t>7/29/26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FBE71-44CA-2840-9B0C-87E1F004F4C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6482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FBE71-44CA-2840-9B0C-87E1F004F4C9}" type="slidenum">
              <a:rPr lang="en-TW" smtClean="0"/>
              <a:t>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96199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2">
            <a:extLst>
              <a:ext uri="{FF2B5EF4-FFF2-40B4-BE49-F238E27FC236}">
                <a16:creationId xmlns:a16="http://schemas.microsoft.com/office/drawing/2014/main" id="{9ED7A32A-0477-D244-A49B-2733D2F07E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B539D"/>
              </a:gs>
              <a:gs pos="81000">
                <a:srgbClr val="13182C"/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11" name="Picture 10" descr="A city skyline with a body of water in the foreground&#10;&#10;Description automatically generated with low confidence">
            <a:extLst>
              <a:ext uri="{FF2B5EF4-FFF2-40B4-BE49-F238E27FC236}">
                <a16:creationId xmlns:a16="http://schemas.microsoft.com/office/drawing/2014/main" id="{111D301E-7276-2542-A26B-E63CD14C6B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</a:blip>
          <a:srcRect l="1465" t="39491" r="176" b="5182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A8FEB2-6AEA-3B42-A898-B2602C2562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02291" y="1"/>
            <a:ext cx="611511" cy="1524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4301B8-B073-9049-B87C-B34B26A7647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53533" y="3611677"/>
            <a:ext cx="1560329" cy="30361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7104EE-3610-C047-AB88-484B0D7482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9909" y="0"/>
            <a:ext cx="2265685" cy="3103418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7F057BB-2DCF-CF48-BB09-6C6E06FF0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428999"/>
            <a:ext cx="10515600" cy="916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sz="60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zh-TW" dirty="0"/>
              <a:t>CSI</a:t>
            </a:r>
            <a:r>
              <a:rPr lang="zh-TW" altLang="en-US" dirty="0"/>
              <a:t> </a:t>
            </a:r>
            <a:r>
              <a:rPr lang="en-US" altLang="zh-TW" dirty="0"/>
              <a:t>TAIWAN</a:t>
            </a:r>
            <a:endParaRPr lang="en-TW" dirty="0"/>
          </a:p>
        </p:txBody>
      </p:sp>
      <p:sp>
        <p:nvSpPr>
          <p:cNvPr id="9" name="PpSlideNum">
            <a:extLst>
              <a:ext uri="{FF2B5EF4-FFF2-40B4-BE49-F238E27FC236}">
                <a16:creationId xmlns:a16="http://schemas.microsoft.com/office/drawing/2014/main" id="{8134F505-2405-B04C-A89A-6A4E628599B6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685893" y="6423111"/>
            <a:ext cx="30016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/>
            <a:fld id="{CE6E7CA7-DFCC-1941-90A2-A7E73BDBA21A}" type="slidenum">
              <a:rPr lang="en-US" altLang="en-TW" sz="1100" b="0" i="0">
                <a:solidFill>
                  <a:schemeClr val="bg1">
                    <a:lumMod val="85000"/>
                    <a:alpha val="0"/>
                  </a:schemeClr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 algn="ctr" eaLnBrk="1" hangingPunct="1"/>
              <a:t>‹#›</a:t>
            </a:fld>
            <a:endParaRPr lang="en-US" altLang="en-TW" sz="1100" b="0" i="0" dirty="0">
              <a:solidFill>
                <a:schemeClr val="bg1">
                  <a:lumMod val="85000"/>
                  <a:alpha val="0"/>
                </a:schemeClr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AEDFF09-9343-444E-BB0D-DA692D6831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469020"/>
            <a:ext cx="10515600" cy="374696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rgbClr val="E7E6E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z="16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Premier Software Solutions for eGovernment</a:t>
            </a:r>
            <a:endParaRPr lang="en-US" sz="1600" b="0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37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Shape&#10;&#10;Description automatically generated">
            <a:extLst>
              <a:ext uri="{FF2B5EF4-FFF2-40B4-BE49-F238E27FC236}">
                <a16:creationId xmlns:a16="http://schemas.microsoft.com/office/drawing/2014/main" id="{3B77E07F-DC79-DF4A-8B66-45BDAE3D92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8877"/>
          <a:stretch/>
        </p:blipFill>
        <p:spPr>
          <a:xfrm rot="5400000" flipH="1">
            <a:off x="340744" y="-303664"/>
            <a:ext cx="1096515" cy="170383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E2C72B0-7A1D-1046-9D70-1751FBFAA6F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734050" y="1270136"/>
            <a:ext cx="723900" cy="85725"/>
            <a:chOff x="5734162" y="1266347"/>
            <a:chExt cx="723676" cy="8636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1EDB2A2-7C28-E040-850C-2C3FC4D2B6E5}"/>
                </a:ext>
              </a:extLst>
            </p:cNvPr>
            <p:cNvSpPr/>
            <p:nvPr/>
          </p:nvSpPr>
          <p:spPr>
            <a:xfrm>
              <a:off x="6053151" y="1266347"/>
              <a:ext cx="85698" cy="8636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FD36128-0D72-DE4E-BE05-BB44300C0862}"/>
                </a:ext>
              </a:extLst>
            </p:cNvPr>
            <p:cNvSpPr/>
            <p:nvPr/>
          </p:nvSpPr>
          <p:spPr>
            <a:xfrm>
              <a:off x="6372140" y="1266347"/>
              <a:ext cx="85698" cy="863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E7FB741-D21A-EC41-AAB8-F70B2515D509}"/>
                </a:ext>
              </a:extLst>
            </p:cNvPr>
            <p:cNvSpPr/>
            <p:nvPr/>
          </p:nvSpPr>
          <p:spPr>
            <a:xfrm>
              <a:off x="5734162" y="1266347"/>
              <a:ext cx="85698" cy="863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5D1DE7C-0B35-D34D-A8A9-A4CA478BA6A3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1147583" y="2063264"/>
            <a:ext cx="4586467" cy="3524600"/>
          </a:xfr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D63BA"/>
              </a:buClr>
              <a:buSzTx/>
              <a:buFont typeface="Arial" panose="020B0604020202020204" pitchFamily="34" charset="0"/>
              <a:buChar char="•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Introduction</a:t>
            </a:r>
          </a:p>
          <a:p>
            <a:pPr lvl="0"/>
            <a:r>
              <a:rPr lang="en-US" altLang="zh-TW" dirty="0"/>
              <a:t>CJIS</a:t>
            </a:r>
            <a:r>
              <a:rPr lang="zh-TW" altLang="en-US" dirty="0"/>
              <a:t> </a:t>
            </a:r>
            <a:r>
              <a:rPr lang="en-US" altLang="zh-TW" dirty="0"/>
              <a:t>Security</a:t>
            </a:r>
          </a:p>
          <a:p>
            <a:pPr lvl="0"/>
            <a:r>
              <a:rPr lang="en-US" altLang="zh-TW" dirty="0"/>
              <a:t>Support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Maintenance</a:t>
            </a:r>
          </a:p>
          <a:p>
            <a:pPr lvl="0"/>
            <a:r>
              <a:rPr lang="en-US" altLang="zh-TW" dirty="0"/>
              <a:t>Implementation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Testing</a:t>
            </a:r>
            <a:r>
              <a:rPr lang="zh-TW" altLang="en-US" dirty="0"/>
              <a:t> </a:t>
            </a:r>
            <a:r>
              <a:rPr lang="en-US" altLang="zh-TW" dirty="0"/>
              <a:t>Approach</a:t>
            </a:r>
          </a:p>
          <a:p>
            <a:pPr lvl="0"/>
            <a:r>
              <a:rPr lang="en-US" altLang="zh-TW" dirty="0"/>
              <a:t>Data</a:t>
            </a:r>
            <a:r>
              <a:rPr lang="zh-TW" altLang="en-US" dirty="0"/>
              <a:t> </a:t>
            </a:r>
            <a:r>
              <a:rPr lang="en-US" altLang="zh-TW" dirty="0"/>
              <a:t>Migration</a:t>
            </a:r>
            <a:r>
              <a:rPr lang="zh-TW" altLang="en-US" dirty="0"/>
              <a:t> </a:t>
            </a:r>
            <a:r>
              <a:rPr lang="en-US" altLang="zh-TW" dirty="0"/>
              <a:t>Services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0AD0578-5AB9-BB47-A75C-731F2A5848BD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10398707" y="2063264"/>
            <a:ext cx="813460" cy="352458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D63BA"/>
              </a:buClr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02</a:t>
            </a:r>
          </a:p>
          <a:p>
            <a:pPr lvl="0"/>
            <a:r>
              <a:rPr lang="en-US" altLang="zh-TW" dirty="0"/>
              <a:t>23</a:t>
            </a:r>
          </a:p>
          <a:p>
            <a:pPr lvl="0"/>
            <a:r>
              <a:rPr lang="en-US" altLang="zh-TW" dirty="0"/>
              <a:t>27</a:t>
            </a:r>
          </a:p>
          <a:p>
            <a:pPr lvl="0"/>
            <a:r>
              <a:rPr lang="en-US" altLang="zh-TW" dirty="0"/>
              <a:t>32</a:t>
            </a:r>
          </a:p>
          <a:p>
            <a:pPr lvl="0"/>
            <a:r>
              <a:rPr lang="en-US" altLang="zh-TW" dirty="0"/>
              <a:t>40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itle 21">
            <a:extLst>
              <a:ext uri="{FF2B5EF4-FFF2-40B4-BE49-F238E27FC236}">
                <a16:creationId xmlns:a16="http://schemas.microsoft.com/office/drawing/2014/main" id="{61EFB3EA-C867-9444-9826-308AD8DE2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5442"/>
            <a:ext cx="10515600" cy="646112"/>
          </a:xfrm>
        </p:spPr>
        <p:txBody>
          <a:bodyPr>
            <a:normAutofit/>
          </a:bodyPr>
          <a:lstStyle>
            <a:lvl1pPr algn="ctr">
              <a:defRPr sz="3200" b="1" i="0">
                <a:solidFill>
                  <a:srgbClr val="0D63BA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zh-TW" dirty="0"/>
              <a:t>AGENDA</a:t>
            </a:r>
            <a:endParaRPr lang="en-TW" dirty="0"/>
          </a:p>
        </p:txBody>
      </p:sp>
      <p:pic>
        <p:nvPicPr>
          <p:cNvPr id="17" name="圖形 16">
            <a:extLst>
              <a:ext uri="{FF2B5EF4-FFF2-40B4-BE49-F238E27FC236}">
                <a16:creationId xmlns:a16="http://schemas.microsoft.com/office/drawing/2014/main" id="{E79203B4-1201-C474-05BA-E28B826E34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099" y="6291792"/>
            <a:ext cx="327600" cy="3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220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2">
            <a:extLst>
              <a:ext uri="{FF2B5EF4-FFF2-40B4-BE49-F238E27FC236}">
                <a16:creationId xmlns:a16="http://schemas.microsoft.com/office/drawing/2014/main" id="{3294AB0B-E288-CD41-8510-DFC1081D89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B539D"/>
              </a:gs>
              <a:gs pos="81000">
                <a:srgbClr val="13182C"/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0548053-7CF9-5949-94DA-B93CAD584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908" y="3639746"/>
            <a:ext cx="2152102" cy="3228193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52EED8F1-F920-964B-AA75-B1ADC9E51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8359"/>
            <a:ext cx="10515600" cy="646112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zh-TW" dirty="0"/>
              <a:t>PROJECT</a:t>
            </a:r>
            <a:r>
              <a:rPr lang="zh-TW" altLang="en-US" dirty="0"/>
              <a:t> </a:t>
            </a:r>
            <a:r>
              <a:rPr lang="en-US" altLang="zh-TW" dirty="0"/>
              <a:t>PLAN</a:t>
            </a:r>
            <a:endParaRPr lang="en-TW" dirty="0"/>
          </a:p>
        </p:txBody>
      </p:sp>
      <p:grpSp>
        <p:nvGrpSpPr>
          <p:cNvPr id="21" name="Group 7">
            <a:extLst>
              <a:ext uri="{FF2B5EF4-FFF2-40B4-BE49-F238E27FC236}">
                <a16:creationId xmlns:a16="http://schemas.microsoft.com/office/drawing/2014/main" id="{A692FE7A-4102-5A41-9FCD-F07EF8D3328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734050" y="1266197"/>
            <a:ext cx="723900" cy="85725"/>
            <a:chOff x="5734162" y="1266347"/>
            <a:chExt cx="723676" cy="8636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BE07FB1-052E-4D46-AEAB-3E30A96D828F}"/>
                </a:ext>
              </a:extLst>
            </p:cNvPr>
            <p:cNvSpPr/>
            <p:nvPr/>
          </p:nvSpPr>
          <p:spPr>
            <a:xfrm>
              <a:off x="6053151" y="1266347"/>
              <a:ext cx="85698" cy="8636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F998946-E4ED-424D-A186-B219EB424984}"/>
                </a:ext>
              </a:extLst>
            </p:cNvPr>
            <p:cNvSpPr/>
            <p:nvPr/>
          </p:nvSpPr>
          <p:spPr>
            <a:xfrm>
              <a:off x="6372140" y="1266347"/>
              <a:ext cx="85698" cy="863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1FB527-7B62-5040-98A9-8A583A231148}"/>
                </a:ext>
              </a:extLst>
            </p:cNvPr>
            <p:cNvSpPr/>
            <p:nvPr/>
          </p:nvSpPr>
          <p:spPr>
            <a:xfrm>
              <a:off x="5734162" y="1266347"/>
              <a:ext cx="85698" cy="863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5" name="PpSlideNum">
            <a:extLst>
              <a:ext uri="{FF2B5EF4-FFF2-40B4-BE49-F238E27FC236}">
                <a16:creationId xmlns:a16="http://schemas.microsoft.com/office/drawing/2014/main" id="{18BA058A-8718-E341-8973-2BB6F8A618F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685893" y="6423111"/>
            <a:ext cx="30016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/>
            <a:fld id="{CE6E7CA7-DFCC-1941-90A2-A7E73BDBA21A}" type="slidenum">
              <a:rPr lang="en-US" altLang="en-TW" sz="1100" b="0" i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 algn="ctr" eaLnBrk="1" hangingPunct="1"/>
              <a:t>‹#›</a:t>
            </a:fld>
            <a:endParaRPr lang="en-US" altLang="en-TW" sz="1100" b="0" i="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52BE0F-A9EC-BC44-AE4F-315A7855B6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tretch>
            <a:fillRect/>
          </a:stretch>
        </p:blipFill>
        <p:spPr>
          <a:xfrm rot="5400000">
            <a:off x="442000" y="-240157"/>
            <a:ext cx="1051091" cy="15036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455E41-9C23-9D40-AF83-E303112A1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6079573" y="9939"/>
            <a:ext cx="6132057" cy="5498123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EF50817-8C57-38B3-8B1F-389DF56C43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099" y="6291792"/>
            <a:ext cx="327600" cy="3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568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s_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2">
            <a:extLst>
              <a:ext uri="{FF2B5EF4-FFF2-40B4-BE49-F238E27FC236}">
                <a16:creationId xmlns:a16="http://schemas.microsoft.com/office/drawing/2014/main" id="{3BE4E442-2498-A74B-BC86-FEFB448FFCC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B539D"/>
              </a:gs>
              <a:gs pos="62000">
                <a:srgbClr val="13182C"/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 baseline="0">
              <a:latin typeface="Segoe UI" panose="020B0502040204020203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08B8EE-8C01-034E-9134-2277B4DE49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34"/>
          <a:stretch/>
        </p:blipFill>
        <p:spPr>
          <a:xfrm>
            <a:off x="1" y="2915605"/>
            <a:ext cx="2265683" cy="394239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F4334BC-A57B-4B4F-8E57-DDD90CF586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5491206" y="9939"/>
            <a:ext cx="6720424" cy="602566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B393FCA-E505-714B-B00D-F9F924CE85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6096000" y="-9523"/>
            <a:ext cx="6132057" cy="54981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040D64-423B-4D44-A972-A8EE1C6ED4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53305" y="3497985"/>
            <a:ext cx="1066799" cy="207584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377B9AE-187F-D848-B926-7D0644B73FB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9909" y="0"/>
            <a:ext cx="2265685" cy="31034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E19B2D-92CB-3D4F-9830-4B506D055A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15160"/>
          <a:stretch/>
        </p:blipFill>
        <p:spPr>
          <a:xfrm>
            <a:off x="-9908" y="4119199"/>
            <a:ext cx="2152102" cy="2738802"/>
          </a:xfrm>
          <a:prstGeom prst="rect">
            <a:avLst/>
          </a:prstGeom>
        </p:spPr>
      </p:pic>
      <p:pic>
        <p:nvPicPr>
          <p:cNvPr id="2" name="圖形 1">
            <a:extLst>
              <a:ext uri="{FF2B5EF4-FFF2-40B4-BE49-F238E27FC236}">
                <a16:creationId xmlns:a16="http://schemas.microsoft.com/office/drawing/2014/main" id="{4068D6A5-70E7-7143-022A-787068DA61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2000" y="6308727"/>
            <a:ext cx="288000" cy="288000"/>
          </a:xfrm>
          <a:prstGeom prst="rect">
            <a:avLst/>
          </a:prstGeom>
        </p:spPr>
      </p:pic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A0C51C7-96A8-2D0F-305B-6F642B68B8B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6588" y="4808538"/>
            <a:ext cx="9952037" cy="85407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" altLang="zh-TW" dirty="0"/>
              <a:t>Cloud/On-premise, Uptime, Dependability, Performance, Continuity of operations/Hot fail-over, Disaster Recovery</a:t>
            </a: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3D36557D-6919-C812-8214-337996050C9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6588" y="3244850"/>
            <a:ext cx="9952037" cy="1563688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kumimoji="1" lang="en" altLang="zh-TW" dirty="0"/>
              <a:t>TECHNICAL</a:t>
            </a:r>
            <a:br>
              <a:rPr kumimoji="1" lang="en" altLang="zh-TW" dirty="0"/>
            </a:br>
            <a:r>
              <a:rPr kumimoji="1" lang="en" altLang="zh-TW" dirty="0"/>
              <a:t>ARCHITECTURE &amp; SECURITY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236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s_Custom Photo">
    <p:bg>
      <p:bgPr>
        <a:blipFill dpi="0" rotWithShape="1">
          <a:blip r:embed="rId2">
            <a:alphaModFix amt="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2">
            <a:extLst>
              <a:ext uri="{FF2B5EF4-FFF2-40B4-BE49-F238E27FC236}">
                <a16:creationId xmlns:a16="http://schemas.microsoft.com/office/drawing/2014/main" id="{3033AFBF-A682-FC4D-8E41-CA3FD464CE13}"/>
              </a:ext>
            </a:extLst>
          </p:cNvPr>
          <p:cNvSpPr/>
          <p:nvPr userDrawn="1"/>
        </p:nvSpPr>
        <p:spPr>
          <a:xfrm>
            <a:off x="-9908" y="-9939"/>
            <a:ext cx="12219642" cy="690372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B539D"/>
              </a:gs>
              <a:gs pos="62000">
                <a:srgbClr val="13182C"/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38D956-85FC-3141-8BF0-FB21F8D5AC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9908" y="3629807"/>
            <a:ext cx="2152102" cy="32281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15704E-C9C2-9F42-AFE3-E539DAC636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9909" y="0"/>
            <a:ext cx="1375038" cy="175799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CD4003-ACAD-0644-B4F0-C6F3D05D35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65617" y="-7620"/>
            <a:ext cx="7634177" cy="6903720"/>
          </a:xfrm>
          <a:custGeom>
            <a:avLst/>
            <a:gdLst>
              <a:gd name="connsiteX0" fmla="*/ 0 w 7605712"/>
              <a:gd name="connsiteY0" fmla="*/ 3429000 h 6858000"/>
              <a:gd name="connsiteX1" fmla="*/ 3802856 w 7605712"/>
              <a:gd name="connsiteY1" fmla="*/ 0 h 6858000"/>
              <a:gd name="connsiteX2" fmla="*/ 7605712 w 7605712"/>
              <a:gd name="connsiteY2" fmla="*/ 0 h 6858000"/>
              <a:gd name="connsiteX3" fmla="*/ 0 w 7605712"/>
              <a:gd name="connsiteY3" fmla="*/ 6858000 h 6858000"/>
              <a:gd name="connsiteX4" fmla="*/ 0 w 7605712"/>
              <a:gd name="connsiteY4" fmla="*/ 3429000 h 6858000"/>
              <a:gd name="connsiteX0" fmla="*/ 0 w 7605712"/>
              <a:gd name="connsiteY0" fmla="*/ 3443068 h 6872068"/>
              <a:gd name="connsiteX1" fmla="*/ 32715 w 7605712"/>
              <a:gd name="connsiteY1" fmla="*/ 0 h 6872068"/>
              <a:gd name="connsiteX2" fmla="*/ 7605712 w 7605712"/>
              <a:gd name="connsiteY2" fmla="*/ 14068 h 6872068"/>
              <a:gd name="connsiteX3" fmla="*/ 0 w 7605712"/>
              <a:gd name="connsiteY3" fmla="*/ 6872068 h 6872068"/>
              <a:gd name="connsiteX4" fmla="*/ 0 w 7605712"/>
              <a:gd name="connsiteY4" fmla="*/ 3443068 h 6872068"/>
              <a:gd name="connsiteX0" fmla="*/ 0 w 7619779"/>
              <a:gd name="connsiteY0" fmla="*/ 3443068 h 6872068"/>
              <a:gd name="connsiteX1" fmla="*/ 32715 w 7619779"/>
              <a:gd name="connsiteY1" fmla="*/ 0 h 6872068"/>
              <a:gd name="connsiteX2" fmla="*/ 7619779 w 7619779"/>
              <a:gd name="connsiteY2" fmla="*/ 1026942 h 6872068"/>
              <a:gd name="connsiteX3" fmla="*/ 0 w 7619779"/>
              <a:gd name="connsiteY3" fmla="*/ 6872068 h 6872068"/>
              <a:gd name="connsiteX4" fmla="*/ 0 w 7619779"/>
              <a:gd name="connsiteY4" fmla="*/ 3443068 h 6872068"/>
              <a:gd name="connsiteX0" fmla="*/ 0 w 6508431"/>
              <a:gd name="connsiteY0" fmla="*/ 3443068 h 6872068"/>
              <a:gd name="connsiteX1" fmla="*/ 32715 w 6508431"/>
              <a:gd name="connsiteY1" fmla="*/ 0 h 6872068"/>
              <a:gd name="connsiteX2" fmla="*/ 6508431 w 6508431"/>
              <a:gd name="connsiteY2" fmla="*/ 14068 h 6872068"/>
              <a:gd name="connsiteX3" fmla="*/ 0 w 6508431"/>
              <a:gd name="connsiteY3" fmla="*/ 6872068 h 6872068"/>
              <a:gd name="connsiteX4" fmla="*/ 0 w 6508431"/>
              <a:gd name="connsiteY4" fmla="*/ 3443068 h 6872068"/>
              <a:gd name="connsiteX0" fmla="*/ 0 w 7596554"/>
              <a:gd name="connsiteY0" fmla="*/ 3443068 h 3443068"/>
              <a:gd name="connsiteX1" fmla="*/ 32715 w 7596554"/>
              <a:gd name="connsiteY1" fmla="*/ 0 h 3443068"/>
              <a:gd name="connsiteX2" fmla="*/ 6508431 w 7596554"/>
              <a:gd name="connsiteY2" fmla="*/ 14068 h 3443068"/>
              <a:gd name="connsiteX3" fmla="*/ 7596554 w 7596554"/>
              <a:gd name="connsiteY3" fmla="*/ 1062112 h 3443068"/>
              <a:gd name="connsiteX4" fmla="*/ 0 w 7596554"/>
              <a:gd name="connsiteY4" fmla="*/ 3443068 h 3443068"/>
              <a:gd name="connsiteX0" fmla="*/ 7606042 w 7606042"/>
              <a:gd name="connsiteY0" fmla="*/ 6889653 h 6889653"/>
              <a:gd name="connsiteX1" fmla="*/ 0 w 7606042"/>
              <a:gd name="connsiteY1" fmla="*/ 0 h 6889653"/>
              <a:gd name="connsiteX2" fmla="*/ 6475716 w 7606042"/>
              <a:gd name="connsiteY2" fmla="*/ 14068 h 6889653"/>
              <a:gd name="connsiteX3" fmla="*/ 7563839 w 7606042"/>
              <a:gd name="connsiteY3" fmla="*/ 1062112 h 6889653"/>
              <a:gd name="connsiteX4" fmla="*/ 7606042 w 7606042"/>
              <a:gd name="connsiteY4" fmla="*/ 6889653 h 6889653"/>
              <a:gd name="connsiteX0" fmla="*/ 7606042 w 7606042"/>
              <a:gd name="connsiteY0" fmla="*/ 6889653 h 6889653"/>
              <a:gd name="connsiteX1" fmla="*/ 0 w 7606042"/>
              <a:gd name="connsiteY1" fmla="*/ 0 h 6889653"/>
              <a:gd name="connsiteX2" fmla="*/ 6475716 w 7606042"/>
              <a:gd name="connsiteY2" fmla="*/ 14068 h 6889653"/>
              <a:gd name="connsiteX3" fmla="*/ 7606042 w 7606042"/>
              <a:gd name="connsiteY3" fmla="*/ 1104315 h 6889653"/>
              <a:gd name="connsiteX4" fmla="*/ 7606042 w 7606042"/>
              <a:gd name="connsiteY4" fmla="*/ 6889653 h 6889653"/>
              <a:gd name="connsiteX0" fmla="*/ 7606042 w 7606042"/>
              <a:gd name="connsiteY0" fmla="*/ 6903720 h 6903720"/>
              <a:gd name="connsiteX1" fmla="*/ 0 w 7606042"/>
              <a:gd name="connsiteY1" fmla="*/ 14067 h 6903720"/>
              <a:gd name="connsiteX2" fmla="*/ 6475716 w 7606042"/>
              <a:gd name="connsiteY2" fmla="*/ 0 h 6903720"/>
              <a:gd name="connsiteX3" fmla="*/ 7606042 w 7606042"/>
              <a:gd name="connsiteY3" fmla="*/ 1118382 h 6903720"/>
              <a:gd name="connsiteX4" fmla="*/ 7606042 w 7606042"/>
              <a:gd name="connsiteY4" fmla="*/ 6903720 h 6903720"/>
              <a:gd name="connsiteX0" fmla="*/ 7606042 w 7606042"/>
              <a:gd name="connsiteY0" fmla="*/ 6903720 h 6903720"/>
              <a:gd name="connsiteX1" fmla="*/ 0 w 7606042"/>
              <a:gd name="connsiteY1" fmla="*/ 0 h 6903720"/>
              <a:gd name="connsiteX2" fmla="*/ 6475716 w 7606042"/>
              <a:gd name="connsiteY2" fmla="*/ 0 h 6903720"/>
              <a:gd name="connsiteX3" fmla="*/ 7606042 w 7606042"/>
              <a:gd name="connsiteY3" fmla="*/ 1118382 h 6903720"/>
              <a:gd name="connsiteX4" fmla="*/ 7606042 w 7606042"/>
              <a:gd name="connsiteY4" fmla="*/ 6903720 h 6903720"/>
              <a:gd name="connsiteX0" fmla="*/ 7634177 w 7634177"/>
              <a:gd name="connsiteY0" fmla="*/ 6903720 h 6903720"/>
              <a:gd name="connsiteX1" fmla="*/ 0 w 7634177"/>
              <a:gd name="connsiteY1" fmla="*/ 0 h 6903720"/>
              <a:gd name="connsiteX2" fmla="*/ 6503851 w 7634177"/>
              <a:gd name="connsiteY2" fmla="*/ 0 h 6903720"/>
              <a:gd name="connsiteX3" fmla="*/ 7634177 w 7634177"/>
              <a:gd name="connsiteY3" fmla="*/ 1118382 h 6903720"/>
              <a:gd name="connsiteX4" fmla="*/ 7634177 w 7634177"/>
              <a:gd name="connsiteY4" fmla="*/ 6903720 h 6903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34177" h="6903720">
                <a:moveTo>
                  <a:pt x="7634177" y="6903720"/>
                </a:moveTo>
                <a:lnTo>
                  <a:pt x="0" y="0"/>
                </a:lnTo>
                <a:lnTo>
                  <a:pt x="6503851" y="0"/>
                </a:lnTo>
                <a:lnTo>
                  <a:pt x="7634177" y="1118382"/>
                </a:lnTo>
                <a:lnTo>
                  <a:pt x="7634177" y="6903720"/>
                </a:lnTo>
                <a:close/>
              </a:path>
            </a:pathLst>
          </a:cu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Click</a:t>
            </a:r>
            <a:r>
              <a:rPr lang="zh-TW" altLang="en-US" dirty="0"/>
              <a:t> </a:t>
            </a:r>
            <a:r>
              <a:rPr lang="en-US" altLang="zh-TW" dirty="0"/>
              <a:t>icon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add</a:t>
            </a:r>
            <a:r>
              <a:rPr lang="zh-TW" altLang="en-US" dirty="0"/>
              <a:t> </a:t>
            </a:r>
            <a:r>
              <a:rPr lang="en-US" altLang="zh-TW" dirty="0"/>
              <a:t>picture</a:t>
            </a:r>
            <a:endParaRPr lang="en-TW" dirty="0"/>
          </a:p>
        </p:txBody>
      </p:sp>
      <p:grpSp>
        <p:nvGrpSpPr>
          <p:cNvPr id="14" name="Group 7">
            <a:extLst>
              <a:ext uri="{FF2B5EF4-FFF2-40B4-BE49-F238E27FC236}">
                <a16:creationId xmlns:a16="http://schemas.microsoft.com/office/drawing/2014/main" id="{464165D2-C65A-0942-AE39-ED886A0336E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05993" y="4118489"/>
            <a:ext cx="723900" cy="85725"/>
            <a:chOff x="5734162" y="1266347"/>
            <a:chExt cx="723676" cy="8636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357EE9B-2F4A-C943-BB3C-BC0A8612F37E}"/>
                </a:ext>
              </a:extLst>
            </p:cNvPr>
            <p:cNvSpPr/>
            <p:nvPr/>
          </p:nvSpPr>
          <p:spPr>
            <a:xfrm>
              <a:off x="6053151" y="1266347"/>
              <a:ext cx="85698" cy="863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E873230-53AB-B942-AC1E-B5A067CC9FFA}"/>
                </a:ext>
              </a:extLst>
            </p:cNvPr>
            <p:cNvSpPr/>
            <p:nvPr/>
          </p:nvSpPr>
          <p:spPr>
            <a:xfrm>
              <a:off x="6372140" y="1266347"/>
              <a:ext cx="85698" cy="863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4EAB7D8-2E0C-F849-9686-4BE6C6E6503F}"/>
                </a:ext>
              </a:extLst>
            </p:cNvPr>
            <p:cNvSpPr/>
            <p:nvPr/>
          </p:nvSpPr>
          <p:spPr>
            <a:xfrm>
              <a:off x="5734162" y="1266347"/>
              <a:ext cx="85698" cy="863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</p:grpSp>
      <p:sp>
        <p:nvSpPr>
          <p:cNvPr id="20" name="Subtitle 2">
            <a:extLst>
              <a:ext uri="{FF2B5EF4-FFF2-40B4-BE49-F238E27FC236}">
                <a16:creationId xmlns:a16="http://schemas.microsoft.com/office/drawing/2014/main" id="{CBA4F066-AF9E-A44E-B1ED-A27735BF19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5344" y="4405500"/>
            <a:ext cx="5240874" cy="811204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ct val="150000"/>
              </a:lnSpc>
            </a:pP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Cloud/On-premise,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Uptime,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Dependability,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Performance,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Continuity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of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operations/Hot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fail-over,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Disaster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Recovery</a:t>
            </a:r>
            <a:endParaRPr lang="id-ID" sz="1400" dirty="0">
              <a:solidFill>
                <a:schemeClr val="bg1"/>
              </a:solidFill>
              <a:latin typeface="Lato" panose="020F0502020204030203" pitchFamily="34" charset="0"/>
              <a:ea typeface="Verdana" panose="020B0604030504040204" pitchFamily="34" charset="0"/>
              <a:cs typeface="Lato" panose="020F0502020204030203" pitchFamily="34" charset="0"/>
            </a:endParaRPr>
          </a:p>
        </p:txBody>
      </p:sp>
      <p:pic>
        <p:nvPicPr>
          <p:cNvPr id="4" name="圖形 3">
            <a:extLst>
              <a:ext uri="{FF2B5EF4-FFF2-40B4-BE49-F238E27FC236}">
                <a16:creationId xmlns:a16="http://schemas.microsoft.com/office/drawing/2014/main" id="{79CA5E13-E1E5-5DF0-AB4F-3DC35DB104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2000" y="6308727"/>
            <a:ext cx="288000" cy="288000"/>
          </a:xfrm>
          <a:prstGeom prst="rect">
            <a:avLst/>
          </a:prstGeom>
        </p:spPr>
      </p:pic>
      <p:sp>
        <p:nvSpPr>
          <p:cNvPr id="5" name="內容版面配置區 11">
            <a:extLst>
              <a:ext uri="{FF2B5EF4-FFF2-40B4-BE49-F238E27FC236}">
                <a16:creationId xmlns:a16="http://schemas.microsoft.com/office/drawing/2014/main" id="{78611238-A8B7-0B3E-C274-8035F122F9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85344" y="2068176"/>
            <a:ext cx="5240874" cy="1563688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kumimoji="1" lang="en" altLang="zh-TW" dirty="0"/>
              <a:t>TECHNICAL</a:t>
            </a:r>
            <a:br>
              <a:rPr kumimoji="1" lang="en" altLang="zh-TW" dirty="0"/>
            </a:br>
            <a:r>
              <a:rPr kumimoji="1" lang="en" altLang="zh-TW" dirty="0"/>
              <a:t>ARCHITECTURE &amp; SECURITY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1594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s_Public Safety_1">
    <p:bg>
      <p:bgPr>
        <a:solidFill>
          <a:schemeClr val="bg1">
            <a:alpha val="3478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2">
            <a:extLst>
              <a:ext uri="{FF2B5EF4-FFF2-40B4-BE49-F238E27FC236}">
                <a16:creationId xmlns:a16="http://schemas.microsoft.com/office/drawing/2014/main" id="{3033AFBF-A682-FC4D-8E41-CA3FD464CE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B539D"/>
              </a:gs>
              <a:gs pos="62000">
                <a:srgbClr val="13182C"/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30" name="Picture 29" descr="A picture containing sky, outdoor, car&#10;&#10;Description automatically generated">
            <a:extLst>
              <a:ext uri="{FF2B5EF4-FFF2-40B4-BE49-F238E27FC236}">
                <a16:creationId xmlns:a16="http://schemas.microsoft.com/office/drawing/2014/main" id="{A2676418-69F1-6845-BB48-FDA8D3AB78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4565135" y="0"/>
            <a:ext cx="7626865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38D956-85FC-3141-8BF0-FB21F8D5AC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9908" y="3629807"/>
            <a:ext cx="2152102" cy="32281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15704E-C9C2-9F42-AFE3-E539DAC636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9909" y="0"/>
            <a:ext cx="1375038" cy="1757997"/>
          </a:xfrm>
          <a:prstGeom prst="rect">
            <a:avLst/>
          </a:prstGeom>
        </p:spPr>
      </p:pic>
      <p:grpSp>
        <p:nvGrpSpPr>
          <p:cNvPr id="23" name="Group 7">
            <a:extLst>
              <a:ext uri="{FF2B5EF4-FFF2-40B4-BE49-F238E27FC236}">
                <a16:creationId xmlns:a16="http://schemas.microsoft.com/office/drawing/2014/main" id="{52F14409-3AAF-154F-BE63-0A196445EA7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05993" y="4118489"/>
            <a:ext cx="723900" cy="85725"/>
            <a:chOff x="5734162" y="1266347"/>
            <a:chExt cx="723676" cy="8636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5911964-E80E-9F41-9470-F33E063EF62F}"/>
                </a:ext>
              </a:extLst>
            </p:cNvPr>
            <p:cNvSpPr/>
            <p:nvPr/>
          </p:nvSpPr>
          <p:spPr>
            <a:xfrm>
              <a:off x="6053151" y="1266347"/>
              <a:ext cx="85698" cy="863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548364E-8652-AD4B-A13C-FBCB02D149D1}"/>
                </a:ext>
              </a:extLst>
            </p:cNvPr>
            <p:cNvSpPr/>
            <p:nvPr/>
          </p:nvSpPr>
          <p:spPr>
            <a:xfrm>
              <a:off x="6372140" y="1266347"/>
              <a:ext cx="85698" cy="863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6068DB1-21CD-BC46-AEB2-A35308D29163}"/>
                </a:ext>
              </a:extLst>
            </p:cNvPr>
            <p:cNvSpPr/>
            <p:nvPr/>
          </p:nvSpPr>
          <p:spPr>
            <a:xfrm>
              <a:off x="5734162" y="1266347"/>
              <a:ext cx="85698" cy="863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3F379C96-3AEF-0F4A-ADA8-8F9A72D32AD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8341121" y="0"/>
            <a:ext cx="3872741" cy="3472376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5F62FDD8-4837-E90D-BBB1-9026D1E42D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52000" y="6308727"/>
            <a:ext cx="288000" cy="288000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82ABF8EF-B4B0-9562-6EA5-98F54F7F85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5344" y="4405500"/>
            <a:ext cx="5240874" cy="811204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ct val="150000"/>
              </a:lnSpc>
            </a:pP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Cloud/On-premise,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Uptime,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Dependability,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Performance,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Continuity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of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operations/Hot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fail-over,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Disaster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Recovery</a:t>
            </a:r>
            <a:endParaRPr lang="id-ID" sz="1400" dirty="0">
              <a:solidFill>
                <a:schemeClr val="bg1"/>
              </a:solidFill>
              <a:latin typeface="Lato" panose="020F0502020204030203" pitchFamily="34" charset="0"/>
              <a:ea typeface="Verdana" panose="020B0604030504040204" pitchFamily="34" charset="0"/>
              <a:cs typeface="Lato" panose="020F0502020204030203" pitchFamily="34" charset="0"/>
            </a:endParaRPr>
          </a:p>
        </p:txBody>
      </p:sp>
      <p:sp>
        <p:nvSpPr>
          <p:cNvPr id="4" name="內容版面配置區 11">
            <a:extLst>
              <a:ext uri="{FF2B5EF4-FFF2-40B4-BE49-F238E27FC236}">
                <a16:creationId xmlns:a16="http://schemas.microsoft.com/office/drawing/2014/main" id="{E96C643A-E2BC-0158-517C-6C02335992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85344" y="2068176"/>
            <a:ext cx="5240874" cy="1563688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kumimoji="1" lang="en" altLang="zh-TW" dirty="0"/>
              <a:t>TECHNICAL</a:t>
            </a:r>
            <a:br>
              <a:rPr kumimoji="1" lang="en" altLang="zh-TW" dirty="0"/>
            </a:br>
            <a:r>
              <a:rPr kumimoji="1" lang="en" altLang="zh-TW" dirty="0"/>
              <a:t>ARCHITECTURE &amp; SECURITY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2992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s_Cloud Integ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2">
            <a:extLst>
              <a:ext uri="{FF2B5EF4-FFF2-40B4-BE49-F238E27FC236}">
                <a16:creationId xmlns:a16="http://schemas.microsoft.com/office/drawing/2014/main" id="{3033AFBF-A682-FC4D-8E41-CA3FD464CE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B539D"/>
              </a:gs>
              <a:gs pos="62000">
                <a:srgbClr val="13182C"/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38D956-85FC-3141-8BF0-FB21F8D5AC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909" y="3629807"/>
            <a:ext cx="2152102" cy="32281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15704E-C9C2-9F42-AFE3-E539DAC636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9909" y="0"/>
            <a:ext cx="1375038" cy="175799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E18C1C7-D131-714C-91FF-6A0282E06A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89129" y="982883"/>
            <a:ext cx="1202871" cy="23406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D9EDE5-8179-004E-A241-5609215B6EB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5493439" y="-2"/>
            <a:ext cx="6720424" cy="60256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F379C96-3AEF-0F4A-ADA8-8F9A72D32AD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6081805" y="-1"/>
            <a:ext cx="6132057" cy="5498123"/>
          </a:xfrm>
          <a:prstGeom prst="rect">
            <a:avLst/>
          </a:prstGeom>
        </p:spPr>
      </p:pic>
      <p:grpSp>
        <p:nvGrpSpPr>
          <p:cNvPr id="21" name="Group 7">
            <a:extLst>
              <a:ext uri="{FF2B5EF4-FFF2-40B4-BE49-F238E27FC236}">
                <a16:creationId xmlns:a16="http://schemas.microsoft.com/office/drawing/2014/main" id="{08774C36-2A00-5F4D-86F9-6004B288CBD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05993" y="4118489"/>
            <a:ext cx="723900" cy="85725"/>
            <a:chOff x="5734162" y="1266347"/>
            <a:chExt cx="723676" cy="86368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2FE1FA4-6411-AE40-9045-5ACC9DBBBEE9}"/>
                </a:ext>
              </a:extLst>
            </p:cNvPr>
            <p:cNvSpPr/>
            <p:nvPr/>
          </p:nvSpPr>
          <p:spPr>
            <a:xfrm>
              <a:off x="6053151" y="1266347"/>
              <a:ext cx="85698" cy="863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17B8882-53DF-B14B-BD38-39E7EB9DE45C}"/>
                </a:ext>
              </a:extLst>
            </p:cNvPr>
            <p:cNvSpPr/>
            <p:nvPr/>
          </p:nvSpPr>
          <p:spPr>
            <a:xfrm>
              <a:off x="6372140" y="1266347"/>
              <a:ext cx="85698" cy="863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B17C74F-F2EE-7A4F-8A33-F58627C5C75A}"/>
                </a:ext>
              </a:extLst>
            </p:cNvPr>
            <p:cNvSpPr/>
            <p:nvPr/>
          </p:nvSpPr>
          <p:spPr>
            <a:xfrm>
              <a:off x="5734162" y="1266347"/>
              <a:ext cx="85698" cy="863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16" name="Picture 15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920C0381-C637-1E4B-8F1F-2F28C8A2B04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371627" y="1701312"/>
            <a:ext cx="4940602" cy="3562873"/>
          </a:xfrm>
          <a:prstGeom prst="rect">
            <a:avLst/>
          </a:prstGeom>
        </p:spPr>
      </p:pic>
      <p:pic>
        <p:nvPicPr>
          <p:cNvPr id="2" name="圖形 1">
            <a:extLst>
              <a:ext uri="{FF2B5EF4-FFF2-40B4-BE49-F238E27FC236}">
                <a16:creationId xmlns:a16="http://schemas.microsoft.com/office/drawing/2014/main" id="{482EEFB7-9FED-70E2-70DC-0901E15553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2000" y="6308727"/>
            <a:ext cx="288000" cy="28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83092BC-DA98-C993-1C46-F7F0E50020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5344" y="4405500"/>
            <a:ext cx="5240874" cy="811204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ct val="150000"/>
              </a:lnSpc>
            </a:pP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Cloud/On-premise,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Uptime,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Dependability,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Performance,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Continuity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of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operations/Hot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fail-over,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Disaster</a:t>
            </a:r>
            <a:r>
              <a:rPr lang="zh-TW" altLang="en-US" sz="1400" dirty="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zh-TW" sz="1400" dirty="0">
                <a:solidFill>
                  <a:schemeClr val="bg1"/>
                </a:solidFill>
                <a:latin typeface="Lato" panose="020F0502020204030203" pitchFamily="34" charset="0"/>
                <a:ea typeface="Verdana" panose="020B0604030504040204" pitchFamily="34" charset="0"/>
                <a:cs typeface="Lato" panose="020F0502020204030203" pitchFamily="34" charset="0"/>
              </a:rPr>
              <a:t>Recovery</a:t>
            </a:r>
            <a:endParaRPr lang="id-ID" sz="1400" dirty="0">
              <a:solidFill>
                <a:schemeClr val="bg1"/>
              </a:solidFill>
              <a:latin typeface="Lato" panose="020F0502020204030203" pitchFamily="34" charset="0"/>
              <a:ea typeface="Verdana" panose="020B0604030504040204" pitchFamily="34" charset="0"/>
              <a:cs typeface="Lato" panose="020F0502020204030203" pitchFamily="34" charset="0"/>
            </a:endParaRPr>
          </a:p>
        </p:txBody>
      </p:sp>
      <p:sp>
        <p:nvSpPr>
          <p:cNvPr id="4" name="內容版面配置區 11">
            <a:extLst>
              <a:ext uri="{FF2B5EF4-FFF2-40B4-BE49-F238E27FC236}">
                <a16:creationId xmlns:a16="http://schemas.microsoft.com/office/drawing/2014/main" id="{D92ED511-7081-0CCA-7676-21D5F024389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85344" y="2068176"/>
            <a:ext cx="5240874" cy="1563688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kumimoji="1" lang="en" altLang="zh-TW" dirty="0"/>
              <a:t>TECHNICAL</a:t>
            </a:r>
            <a:br>
              <a:rPr kumimoji="1" lang="en" altLang="zh-TW" dirty="0"/>
            </a:br>
            <a:r>
              <a:rPr kumimoji="1" lang="en" altLang="zh-TW" dirty="0"/>
              <a:t>ARCHITECTURE &amp; SECURITY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8475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hape&#10;&#10;Description automatically generated">
            <a:extLst>
              <a:ext uri="{FF2B5EF4-FFF2-40B4-BE49-F238E27FC236}">
                <a16:creationId xmlns:a16="http://schemas.microsoft.com/office/drawing/2014/main" id="{9241703E-D1B0-954A-AE6E-5E63C29114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4547"/>
          <a:stretch/>
        </p:blipFill>
        <p:spPr>
          <a:xfrm rot="5400000" flipH="1">
            <a:off x="293150" y="-256069"/>
            <a:ext cx="1135349" cy="164748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7A7BA65-46C1-3E4E-AB68-85A97774E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8359"/>
            <a:ext cx="10515600" cy="646112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rgbClr val="0D63BA"/>
                </a:solidFill>
              </a:defRPr>
            </a:lvl1pPr>
          </a:lstStyle>
          <a:p>
            <a:r>
              <a:rPr lang="en-US" altLang="zh-TW" dirty="0"/>
              <a:t>REGIONAL</a:t>
            </a:r>
            <a:r>
              <a:rPr lang="zh-TW" altLang="en-US" dirty="0"/>
              <a:t> </a:t>
            </a:r>
            <a:r>
              <a:rPr lang="en-US" altLang="zh-TW" dirty="0"/>
              <a:t>CONCEPT</a:t>
            </a:r>
            <a:endParaRPr lang="en-TW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B40760-B48B-8F4D-9F37-527B9457DE8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734050" y="1270136"/>
            <a:ext cx="723900" cy="85725"/>
            <a:chOff x="5734162" y="1266347"/>
            <a:chExt cx="723676" cy="8636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3AE793D-9805-DB43-B2F4-4101BA3A63F5}"/>
                </a:ext>
              </a:extLst>
            </p:cNvPr>
            <p:cNvSpPr/>
            <p:nvPr/>
          </p:nvSpPr>
          <p:spPr>
            <a:xfrm>
              <a:off x="6053151" y="1266347"/>
              <a:ext cx="85698" cy="8636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32B3C5-0D0B-5B40-BBB4-23C965D8FB14}"/>
                </a:ext>
              </a:extLst>
            </p:cNvPr>
            <p:cNvSpPr/>
            <p:nvPr/>
          </p:nvSpPr>
          <p:spPr>
            <a:xfrm>
              <a:off x="6372140" y="1266347"/>
              <a:ext cx="85698" cy="863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74CE560-E88A-7F47-8954-528CC5BF8E97}"/>
                </a:ext>
              </a:extLst>
            </p:cNvPr>
            <p:cNvSpPr/>
            <p:nvPr/>
          </p:nvSpPr>
          <p:spPr>
            <a:xfrm>
              <a:off x="5734162" y="1266347"/>
              <a:ext cx="85698" cy="863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</p:grpSp>
      <p:pic>
        <p:nvPicPr>
          <p:cNvPr id="2" name="圖形 1">
            <a:extLst>
              <a:ext uri="{FF2B5EF4-FFF2-40B4-BE49-F238E27FC236}">
                <a16:creationId xmlns:a16="http://schemas.microsoft.com/office/drawing/2014/main" id="{C610DB44-7F58-AE1E-F29C-1ED55DD400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099" y="6291792"/>
            <a:ext cx="327600" cy="3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7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hape&#10;&#10;Description automatically generated">
            <a:extLst>
              <a:ext uri="{FF2B5EF4-FFF2-40B4-BE49-F238E27FC236}">
                <a16:creationId xmlns:a16="http://schemas.microsoft.com/office/drawing/2014/main" id="{09FB9899-E003-EF48-8BB8-99312139B1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4547"/>
          <a:stretch/>
        </p:blipFill>
        <p:spPr>
          <a:xfrm rot="5400000" flipH="1">
            <a:off x="293150" y="-256069"/>
            <a:ext cx="1135349" cy="164748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7A7BA65-46C1-3E4E-AB68-85A97774E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8359"/>
            <a:ext cx="10515600" cy="646112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rgbClr val="0D63BA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zh-TW" dirty="0"/>
              <a:t>STANDARD</a:t>
            </a:r>
            <a:r>
              <a:rPr lang="zh-TW" altLang="en-US" dirty="0"/>
              <a:t> </a:t>
            </a:r>
            <a:r>
              <a:rPr lang="en-US" altLang="zh-TW" dirty="0"/>
              <a:t>TABLE</a:t>
            </a:r>
            <a:endParaRPr lang="en-TW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B40760-B48B-8F4D-9F37-527B9457DE8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734050" y="1270136"/>
            <a:ext cx="723900" cy="85725"/>
            <a:chOff x="5734162" y="1266347"/>
            <a:chExt cx="723676" cy="8636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3AE793D-9805-DB43-B2F4-4101BA3A63F5}"/>
                </a:ext>
              </a:extLst>
            </p:cNvPr>
            <p:cNvSpPr/>
            <p:nvPr/>
          </p:nvSpPr>
          <p:spPr>
            <a:xfrm>
              <a:off x="6053151" y="1266347"/>
              <a:ext cx="85698" cy="8636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32B3C5-0D0B-5B40-BBB4-23C965D8FB14}"/>
                </a:ext>
              </a:extLst>
            </p:cNvPr>
            <p:cNvSpPr/>
            <p:nvPr/>
          </p:nvSpPr>
          <p:spPr>
            <a:xfrm>
              <a:off x="6372140" y="1266347"/>
              <a:ext cx="85698" cy="863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74CE560-E88A-7F47-8954-528CC5BF8E97}"/>
                </a:ext>
              </a:extLst>
            </p:cNvPr>
            <p:cNvSpPr/>
            <p:nvPr/>
          </p:nvSpPr>
          <p:spPr>
            <a:xfrm>
              <a:off x="5734162" y="1266347"/>
              <a:ext cx="85698" cy="863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</p:grpSp>
      <p:pic>
        <p:nvPicPr>
          <p:cNvPr id="2" name="圖形 1">
            <a:extLst>
              <a:ext uri="{FF2B5EF4-FFF2-40B4-BE49-F238E27FC236}">
                <a16:creationId xmlns:a16="http://schemas.microsoft.com/office/drawing/2014/main" id="{FAF6CE94-83F6-ADF4-B451-3020AC19EC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099" y="6291792"/>
            <a:ext cx="327600" cy="3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3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eading_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hape&#10;&#10;Description automatically generated">
            <a:extLst>
              <a:ext uri="{FF2B5EF4-FFF2-40B4-BE49-F238E27FC236}">
                <a16:creationId xmlns:a16="http://schemas.microsoft.com/office/drawing/2014/main" id="{503BFB2D-6FAC-0849-BC9D-F966C0CA83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4547"/>
          <a:stretch/>
        </p:blipFill>
        <p:spPr>
          <a:xfrm rot="5400000" flipH="1">
            <a:off x="293150" y="-256069"/>
            <a:ext cx="1135349" cy="164748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7A7BA65-46C1-3E4E-AB68-85A97774E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8359"/>
            <a:ext cx="10515600" cy="646112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rgbClr val="0D63BA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altLang="zh-TW" dirty="0"/>
              <a:t>HEADING</a:t>
            </a:r>
            <a:endParaRPr lang="en-TW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B40760-B48B-8F4D-9F37-527B9457DE8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734050" y="1270136"/>
            <a:ext cx="723900" cy="85725"/>
            <a:chOff x="5734162" y="1266347"/>
            <a:chExt cx="723676" cy="8636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3AE793D-9805-DB43-B2F4-4101BA3A63F5}"/>
                </a:ext>
              </a:extLst>
            </p:cNvPr>
            <p:cNvSpPr/>
            <p:nvPr/>
          </p:nvSpPr>
          <p:spPr>
            <a:xfrm>
              <a:off x="6053151" y="1266347"/>
              <a:ext cx="85698" cy="8636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32B3C5-0D0B-5B40-BBB4-23C965D8FB14}"/>
                </a:ext>
              </a:extLst>
            </p:cNvPr>
            <p:cNvSpPr/>
            <p:nvPr/>
          </p:nvSpPr>
          <p:spPr>
            <a:xfrm>
              <a:off x="6372140" y="1266347"/>
              <a:ext cx="85698" cy="863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74CE560-E88A-7F47-8954-528CC5BF8E97}"/>
                </a:ext>
              </a:extLst>
            </p:cNvPr>
            <p:cNvSpPr/>
            <p:nvPr/>
          </p:nvSpPr>
          <p:spPr>
            <a:xfrm>
              <a:off x="5734162" y="1266347"/>
              <a:ext cx="85698" cy="863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</p:grpSp>
      <p:pic>
        <p:nvPicPr>
          <p:cNvPr id="2" name="圖形 1">
            <a:extLst>
              <a:ext uri="{FF2B5EF4-FFF2-40B4-BE49-F238E27FC236}">
                <a16:creationId xmlns:a16="http://schemas.microsoft.com/office/drawing/2014/main" id="{9B9CEFD9-F485-9C93-E068-42C4236814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099" y="6291792"/>
            <a:ext cx="327600" cy="3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55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B148D6CD-F424-A246-A372-878DC5B686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B539D"/>
              </a:gs>
              <a:gs pos="81000">
                <a:srgbClr val="13182C"/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D3E5AA-C82B-0D41-BDAB-A5379A760B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53533" y="3611677"/>
            <a:ext cx="1560329" cy="30361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4CEFFB-0680-AC4D-BA08-B9BA46CEA6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02291" y="1"/>
            <a:ext cx="611511" cy="1524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AB1F5B-825A-0141-A6C4-A18D50E9B1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9909" y="0"/>
            <a:ext cx="2265685" cy="3103418"/>
          </a:xfrm>
          <a:prstGeom prst="rect">
            <a:avLst/>
          </a:prstGeom>
        </p:spPr>
      </p:pic>
      <p:sp>
        <p:nvSpPr>
          <p:cNvPr id="12" name="Title 17">
            <a:extLst>
              <a:ext uri="{FF2B5EF4-FFF2-40B4-BE49-F238E27FC236}">
                <a16:creationId xmlns:a16="http://schemas.microsoft.com/office/drawing/2014/main" id="{0B8AFCE8-C1A5-BA4F-BDAA-EEBAD4EEFC0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17668" y="4186114"/>
            <a:ext cx="9601020" cy="428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9pPr>
          </a:lstStyle>
          <a:p>
            <a:r>
              <a:rPr lang="en-US" altLang="zh-TW" sz="1400" b="0" i="0" dirty="0"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Suite E, 11F., No.101, </a:t>
            </a:r>
            <a:r>
              <a:rPr lang="en-US" altLang="zh-TW" sz="1400" b="0" i="0" dirty="0" err="1"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Songren</a:t>
            </a:r>
            <a:r>
              <a:rPr lang="en-US" altLang="zh-TW" sz="1400" b="0" i="0" dirty="0"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 Rd., Xinyi Dist., Taipei City 110, Taiwan </a:t>
            </a:r>
            <a:r>
              <a:rPr lang="zh-TW" altLang="en-US" sz="1400" b="0" i="0" dirty="0"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 </a:t>
            </a:r>
            <a:r>
              <a:rPr lang="en-US" altLang="zh-TW" sz="1400" b="0" i="0" dirty="0"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|</a:t>
            </a:r>
            <a:r>
              <a:rPr lang="zh-TW" altLang="en-US" sz="1400" b="0" dirty="0"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n-US" sz="1400" b="0" i="0" dirty="0"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Tel: (02)2723-7111</a:t>
            </a:r>
          </a:p>
        </p:txBody>
      </p:sp>
      <p:sp>
        <p:nvSpPr>
          <p:cNvPr id="13" name="Title 17">
            <a:extLst>
              <a:ext uri="{FF2B5EF4-FFF2-40B4-BE49-F238E27FC236}">
                <a16:creationId xmlns:a16="http://schemas.microsoft.com/office/drawing/2014/main" id="{50CCD863-D4CD-F746-A35B-C9A815B7203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0278" y="4511177"/>
            <a:ext cx="5495800" cy="428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20F0502020204030204" pitchFamily="34" charset="0"/>
              </a:defRPr>
            </a:lvl9pPr>
          </a:lstStyle>
          <a:p>
            <a:r>
              <a:rPr lang="en-US" altLang="zh-TW" sz="1400" b="0" i="0" dirty="0" err="1"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www.csitaiwan.com.tw</a:t>
            </a:r>
            <a:endParaRPr lang="en-US" sz="1400" b="0" i="0" dirty="0"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pic>
        <p:nvPicPr>
          <p:cNvPr id="2" name="圖形 1">
            <a:extLst>
              <a:ext uri="{FF2B5EF4-FFF2-40B4-BE49-F238E27FC236}">
                <a16:creationId xmlns:a16="http://schemas.microsoft.com/office/drawing/2014/main" id="{0A7F16F3-77E9-6A1C-F410-96C8138360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1735" y="3494196"/>
            <a:ext cx="428531" cy="42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90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pSlideNum">
            <a:extLst>
              <a:ext uri="{FF2B5EF4-FFF2-40B4-BE49-F238E27FC236}">
                <a16:creationId xmlns:a16="http://schemas.microsoft.com/office/drawing/2014/main" id="{3536284A-AE7A-9243-953F-C6BB0F87DC06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685893" y="6423111"/>
            <a:ext cx="30016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/>
            <a:fld id="{CE6E7CA7-DFCC-1941-90A2-A7E73BDBA21A}" type="slidenum">
              <a:rPr lang="en-US" altLang="en-TW" sz="1100" b="0" i="0" baseline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微軟正黑體" panose="020B0604030504040204" pitchFamily="34" charset="-120"/>
                <a:cs typeface="Segoe UI" panose="020B0502040204020203" pitchFamily="34" charset="0"/>
              </a:rPr>
              <a:pPr algn="ctr" eaLnBrk="1" hangingPunct="1"/>
              <a:t>‹#›</a:t>
            </a:fld>
            <a:endParaRPr lang="en-US" altLang="en-TW" sz="1100" b="0" i="0" baseline="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991F9EC-4BE7-A249-9C7B-04ACBBB72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TW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F26E5D29-3367-BB4C-B805-1FCD011C2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61825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2" r:id="rId4"/>
    <p:sldLayoutId id="2147483672" r:id="rId5"/>
    <p:sldLayoutId id="2147483664" r:id="rId6"/>
    <p:sldLayoutId id="2147483667" r:id="rId7"/>
    <p:sldLayoutId id="2147483654" r:id="rId8"/>
    <p:sldLayoutId id="2147483662" r:id="rId9"/>
    <p:sldLayoutId id="2147483663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baseline="0">
          <a:solidFill>
            <a:srgbClr val="0D63BA"/>
          </a:solidFill>
          <a:latin typeface="Segoe UI" panose="020B0502040204020203" pitchFamily="34" charset="0"/>
          <a:ea typeface="微軟正黑體" panose="020B0604030504040204" pitchFamily="34" charset="-12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Segoe UI" panose="020B0502040204020203" pitchFamily="34" charset="0"/>
          <a:ea typeface="微軟正黑體" panose="020B0604030504040204" pitchFamily="34" charset="-12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Segoe UI" panose="020B0502040204020203" pitchFamily="34" charset="0"/>
          <a:ea typeface="微軟正黑體" panose="020B0604030504040204" pitchFamily="34" charset="-12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Segoe UI" panose="020B0502040204020203" pitchFamily="34" charset="0"/>
          <a:ea typeface="微軟正黑體" panose="020B0604030504040204" pitchFamily="34" charset="-12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Segoe UI" panose="020B0502040204020203" pitchFamily="34" charset="0"/>
          <a:ea typeface="微軟正黑體" panose="020B0604030504040204" pitchFamily="34" charset="-12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Segoe UI" panose="020B0502040204020203" pitchFamily="34" charset="0"/>
          <a:ea typeface="微軟正黑體" panose="020B0604030504040204" pitchFamily="34" charset="-12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2BE78-BF3E-5042-8617-72B272C3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874992"/>
          </a:xfrm>
        </p:spPr>
        <p:txBody>
          <a:bodyPr>
            <a:normAutofit/>
          </a:bodyPr>
          <a:lstStyle/>
          <a:p>
            <a:r>
              <a:rPr lang="en-US" altLang="zh-TW" sz="5400" dirty="0"/>
              <a:t>CSI</a:t>
            </a:r>
            <a:r>
              <a:rPr lang="zh-TW" altLang="en-US" sz="5400" dirty="0">
                <a:ea typeface="Verdana" panose="020B0604030504040204" pitchFamily="34" charset="0"/>
              </a:rPr>
              <a:t> </a:t>
            </a:r>
            <a:r>
              <a:rPr lang="en-US" altLang="zh-TW" sz="5400" dirty="0"/>
              <a:t>TAIWAN</a:t>
            </a:r>
            <a:endParaRPr lang="en-TW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85248-9D4A-5941-8EAC-246F68AEB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293403"/>
            <a:ext cx="10515600" cy="374696"/>
          </a:xfrm>
        </p:spPr>
        <p:txBody>
          <a:bodyPr/>
          <a:lstStyle/>
          <a:p>
            <a:r>
              <a:rPr lang="en" altLang="zh-TW" dirty="0"/>
              <a:t>Integrated All-in-One Smart Government Software Solutions</a:t>
            </a:r>
            <a:endParaRPr lang="en-TW" dirty="0"/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12598BFC-1D0C-7CD5-B397-1556740B03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09097" y="1558390"/>
            <a:ext cx="1773806" cy="177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03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33A25AF-0663-F345-92B5-6DD2B2AC12DD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1038261" y="2063264"/>
            <a:ext cx="4586467" cy="3524600"/>
          </a:xfr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D63BA"/>
              </a:buClr>
              <a:buSzTx/>
              <a:buFont typeface="Arial" panose="020B0604020202020204" pitchFamily="34" charset="0"/>
              <a:buChar char="•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Introduction</a:t>
            </a:r>
          </a:p>
          <a:p>
            <a:pPr lvl="0"/>
            <a:r>
              <a:rPr lang="en-US" altLang="zh-TW" dirty="0"/>
              <a:t>CJIS</a:t>
            </a:r>
            <a:r>
              <a:rPr lang="zh-TW" altLang="en-US" dirty="0"/>
              <a:t> </a:t>
            </a:r>
            <a:r>
              <a:rPr lang="en-US" altLang="zh-TW" dirty="0"/>
              <a:t>Security</a:t>
            </a:r>
          </a:p>
          <a:p>
            <a:pPr lvl="0"/>
            <a:r>
              <a:rPr lang="en-US" altLang="zh-TW" dirty="0"/>
              <a:t>Support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Maintenance</a:t>
            </a:r>
          </a:p>
          <a:p>
            <a:pPr lvl="0"/>
            <a:r>
              <a:rPr lang="en-US" altLang="zh-TW" dirty="0"/>
              <a:t>Implementation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Testing</a:t>
            </a:r>
            <a:r>
              <a:rPr lang="zh-TW" altLang="en-US" dirty="0"/>
              <a:t> </a:t>
            </a:r>
            <a:r>
              <a:rPr lang="en-US" altLang="zh-TW" dirty="0"/>
              <a:t>Approach</a:t>
            </a:r>
          </a:p>
          <a:p>
            <a:pPr lvl="0"/>
            <a:r>
              <a:rPr lang="en-US" altLang="zh-TW" dirty="0"/>
              <a:t>Data</a:t>
            </a:r>
            <a:r>
              <a:rPr lang="zh-TW" altLang="en-US" dirty="0"/>
              <a:t> </a:t>
            </a:r>
            <a:r>
              <a:rPr lang="en-US" altLang="zh-TW" dirty="0"/>
              <a:t>Migration</a:t>
            </a:r>
            <a:r>
              <a:rPr lang="zh-TW" altLang="en-US" dirty="0"/>
              <a:t> </a:t>
            </a:r>
            <a:r>
              <a:rPr lang="en-US" altLang="zh-TW" dirty="0"/>
              <a:t>Services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964BC49-F2D5-D64F-AC6D-143DF189B218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10398707" y="2063264"/>
            <a:ext cx="813460" cy="352458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D63BA"/>
              </a:buClr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02</a:t>
            </a:r>
          </a:p>
          <a:p>
            <a:pPr lvl="0"/>
            <a:r>
              <a:rPr lang="en-US" altLang="zh-TW" dirty="0"/>
              <a:t>23</a:t>
            </a:r>
          </a:p>
          <a:p>
            <a:pPr lvl="0"/>
            <a:r>
              <a:rPr lang="en-US" altLang="zh-TW" dirty="0"/>
              <a:t>27</a:t>
            </a:r>
          </a:p>
          <a:p>
            <a:pPr lvl="0"/>
            <a:r>
              <a:rPr lang="en-US" altLang="zh-TW" dirty="0"/>
              <a:t>32</a:t>
            </a:r>
          </a:p>
          <a:p>
            <a:pPr lvl="0"/>
            <a:r>
              <a:rPr lang="en-US" altLang="zh-TW" dirty="0"/>
              <a:t>40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Title 21">
            <a:extLst>
              <a:ext uri="{FF2B5EF4-FFF2-40B4-BE49-F238E27FC236}">
                <a16:creationId xmlns:a16="http://schemas.microsoft.com/office/drawing/2014/main" id="{E1275EAA-F938-A647-BDC1-A5AE0897F5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5442"/>
            <a:ext cx="10515600" cy="646112"/>
          </a:xfrm>
        </p:spPr>
        <p:txBody>
          <a:bodyPr>
            <a:normAutofit/>
          </a:bodyPr>
          <a:lstStyle>
            <a:lvl1pPr algn="ctr">
              <a:defRPr sz="3200" b="1" i="0">
                <a:solidFill>
                  <a:srgbClr val="0D63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altLang="zh-TW" dirty="0"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  <a:endParaRPr lang="en-TW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2039CB-197A-C546-B5B8-37AE969D681D}"/>
              </a:ext>
            </a:extLst>
          </p:cNvPr>
          <p:cNvCxnSpPr/>
          <p:nvPr/>
        </p:nvCxnSpPr>
        <p:spPr>
          <a:xfrm>
            <a:off x="5866410" y="3096714"/>
            <a:ext cx="43701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679E17-5620-3047-BE78-75D49FDDA062}"/>
              </a:ext>
            </a:extLst>
          </p:cNvPr>
          <p:cNvCxnSpPr/>
          <p:nvPr/>
        </p:nvCxnSpPr>
        <p:spPr>
          <a:xfrm>
            <a:off x="5866410" y="3795422"/>
            <a:ext cx="43701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4BF24F-8D03-C34B-BCD7-7DEA584279DA}"/>
              </a:ext>
            </a:extLst>
          </p:cNvPr>
          <p:cNvCxnSpPr/>
          <p:nvPr/>
        </p:nvCxnSpPr>
        <p:spPr>
          <a:xfrm>
            <a:off x="5866410" y="4456310"/>
            <a:ext cx="43701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A5F757-4F75-E445-BF8B-27DF17EBB8A2}"/>
              </a:ext>
            </a:extLst>
          </p:cNvPr>
          <p:cNvCxnSpPr/>
          <p:nvPr/>
        </p:nvCxnSpPr>
        <p:spPr>
          <a:xfrm>
            <a:off x="5866410" y="5147014"/>
            <a:ext cx="43701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C983FD-B50C-084E-BC99-912E6E13B6D5}"/>
              </a:ext>
            </a:extLst>
          </p:cNvPr>
          <p:cNvCxnSpPr/>
          <p:nvPr/>
        </p:nvCxnSpPr>
        <p:spPr>
          <a:xfrm>
            <a:off x="5866410" y="2436314"/>
            <a:ext cx="43701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308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AC7F5-0EDB-404B-B933-118EAA8F5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PROJECT</a:t>
            </a:r>
            <a:r>
              <a:rPr lang="zh-TW" altLang="en-US" dirty="0"/>
              <a:t> </a:t>
            </a:r>
            <a:r>
              <a:rPr lang="en-US" altLang="zh-TW" dirty="0"/>
              <a:t>PLAN</a:t>
            </a:r>
            <a:endParaRPr lang="en-TW" dirty="0"/>
          </a:p>
        </p:txBody>
      </p:sp>
      <p:graphicFrame>
        <p:nvGraphicFramePr>
          <p:cNvPr id="26" name="Table 4">
            <a:extLst>
              <a:ext uri="{FF2B5EF4-FFF2-40B4-BE49-F238E27FC236}">
                <a16:creationId xmlns:a16="http://schemas.microsoft.com/office/drawing/2014/main" id="{4D8B70E4-DBB9-B34E-B400-B519DC1B3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9882"/>
              </p:ext>
            </p:extLst>
          </p:nvPr>
        </p:nvGraphicFramePr>
        <p:xfrm>
          <a:off x="385977" y="1712264"/>
          <a:ext cx="11420045" cy="4362904"/>
        </p:xfrm>
        <a:graphic>
          <a:graphicData uri="http://schemas.openxmlformats.org/drawingml/2006/table">
            <a:tbl>
              <a:tblPr firstRow="1" bandRow="1"/>
              <a:tblGrid>
                <a:gridCol w="2321597">
                  <a:extLst>
                    <a:ext uri="{9D8B030D-6E8A-4147-A177-3AD203B41FA5}">
                      <a16:colId xmlns:a16="http://schemas.microsoft.com/office/drawing/2014/main" val="2275485837"/>
                    </a:ext>
                  </a:extLst>
                </a:gridCol>
                <a:gridCol w="758204">
                  <a:extLst>
                    <a:ext uri="{9D8B030D-6E8A-4147-A177-3AD203B41FA5}">
                      <a16:colId xmlns:a16="http://schemas.microsoft.com/office/drawing/2014/main" val="2349033310"/>
                    </a:ext>
                  </a:extLst>
                </a:gridCol>
                <a:gridCol w="758204">
                  <a:extLst>
                    <a:ext uri="{9D8B030D-6E8A-4147-A177-3AD203B41FA5}">
                      <a16:colId xmlns:a16="http://schemas.microsoft.com/office/drawing/2014/main" val="2269566924"/>
                    </a:ext>
                  </a:extLst>
                </a:gridCol>
                <a:gridCol w="758204">
                  <a:extLst>
                    <a:ext uri="{9D8B030D-6E8A-4147-A177-3AD203B41FA5}">
                      <a16:colId xmlns:a16="http://schemas.microsoft.com/office/drawing/2014/main" val="3998094332"/>
                    </a:ext>
                  </a:extLst>
                </a:gridCol>
                <a:gridCol w="758204">
                  <a:extLst>
                    <a:ext uri="{9D8B030D-6E8A-4147-A177-3AD203B41FA5}">
                      <a16:colId xmlns:a16="http://schemas.microsoft.com/office/drawing/2014/main" val="2159185228"/>
                    </a:ext>
                  </a:extLst>
                </a:gridCol>
                <a:gridCol w="758204">
                  <a:extLst>
                    <a:ext uri="{9D8B030D-6E8A-4147-A177-3AD203B41FA5}">
                      <a16:colId xmlns:a16="http://schemas.microsoft.com/office/drawing/2014/main" val="1558959533"/>
                    </a:ext>
                  </a:extLst>
                </a:gridCol>
                <a:gridCol w="758204">
                  <a:extLst>
                    <a:ext uri="{9D8B030D-6E8A-4147-A177-3AD203B41FA5}">
                      <a16:colId xmlns:a16="http://schemas.microsoft.com/office/drawing/2014/main" val="1925426902"/>
                    </a:ext>
                  </a:extLst>
                </a:gridCol>
                <a:gridCol w="758204">
                  <a:extLst>
                    <a:ext uri="{9D8B030D-6E8A-4147-A177-3AD203B41FA5}">
                      <a16:colId xmlns:a16="http://schemas.microsoft.com/office/drawing/2014/main" val="1752323261"/>
                    </a:ext>
                  </a:extLst>
                </a:gridCol>
                <a:gridCol w="758204">
                  <a:extLst>
                    <a:ext uri="{9D8B030D-6E8A-4147-A177-3AD203B41FA5}">
                      <a16:colId xmlns:a16="http://schemas.microsoft.com/office/drawing/2014/main" val="1266088609"/>
                    </a:ext>
                  </a:extLst>
                </a:gridCol>
                <a:gridCol w="758204">
                  <a:extLst>
                    <a:ext uri="{9D8B030D-6E8A-4147-A177-3AD203B41FA5}">
                      <a16:colId xmlns:a16="http://schemas.microsoft.com/office/drawing/2014/main" val="697171975"/>
                    </a:ext>
                  </a:extLst>
                </a:gridCol>
                <a:gridCol w="758204">
                  <a:extLst>
                    <a:ext uri="{9D8B030D-6E8A-4147-A177-3AD203B41FA5}">
                      <a16:colId xmlns:a16="http://schemas.microsoft.com/office/drawing/2014/main" val="1042440905"/>
                    </a:ext>
                  </a:extLst>
                </a:gridCol>
                <a:gridCol w="758204">
                  <a:extLst>
                    <a:ext uri="{9D8B030D-6E8A-4147-A177-3AD203B41FA5}">
                      <a16:colId xmlns:a16="http://schemas.microsoft.com/office/drawing/2014/main" val="2489401424"/>
                    </a:ext>
                  </a:extLst>
                </a:gridCol>
                <a:gridCol w="758204">
                  <a:extLst>
                    <a:ext uri="{9D8B030D-6E8A-4147-A177-3AD203B41FA5}">
                      <a16:colId xmlns:a16="http://schemas.microsoft.com/office/drawing/2014/main" val="2432885735"/>
                    </a:ext>
                  </a:extLst>
                </a:gridCol>
              </a:tblGrid>
              <a:tr h="545363"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2020</a:t>
                      </a:r>
                    </a:p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JUL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AUG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2021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JAN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FEB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MAR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APR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MAY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JUN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JUL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AUG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SEP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OCT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827310"/>
                  </a:ext>
                </a:extLst>
              </a:tr>
              <a:tr h="545363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b="0" i="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21 PO</a:t>
                      </a:r>
                      <a:r>
                        <a:rPr lang="zh-TW" altLang="en-US" sz="150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zh-TW" sz="1500" b="0" i="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System</a:t>
                      </a:r>
                      <a:r>
                        <a:rPr lang="zh-TW" altLang="en-US" sz="150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zh-TW" sz="1500" b="0" i="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Dev.</a:t>
                      </a:r>
                      <a:r>
                        <a:rPr lang="zh-TW" altLang="en-US" sz="150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endParaRPr lang="en-US" altLang="zh-TW" sz="1500" b="0" i="0" dirty="0">
                        <a:solidFill>
                          <a:prstClr val="white"/>
                        </a:solidFill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805690"/>
                  </a:ext>
                </a:extLst>
              </a:tr>
              <a:tr h="545363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b="0" i="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AG</a:t>
                      </a:r>
                      <a:r>
                        <a:rPr lang="en-US" altLang="zh-TW" sz="150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zh-TW" sz="1500" b="0" i="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System</a:t>
                      </a:r>
                      <a:r>
                        <a:rPr lang="en-US" altLang="zh-TW" sz="150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zh-TW" sz="1500" b="0" i="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Dev.</a:t>
                      </a:r>
                      <a:endParaRPr lang="en-US" sz="1500" b="0" i="0" dirty="0">
                        <a:solidFill>
                          <a:prstClr val="white"/>
                        </a:solidFill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634504"/>
                  </a:ext>
                </a:extLst>
              </a:tr>
              <a:tr h="545363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b="0" i="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Interface</a:t>
                      </a:r>
                      <a:r>
                        <a:rPr lang="en-US" altLang="zh-TW" sz="150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zh-TW" sz="1500" b="0" i="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Dev.</a:t>
                      </a:r>
                      <a:endParaRPr lang="en-US" sz="1500" b="0" i="0" dirty="0">
                        <a:solidFill>
                          <a:prstClr val="white"/>
                        </a:solidFill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495158"/>
                  </a:ext>
                </a:extLst>
              </a:tr>
              <a:tr h="545363"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en-US" altLang="zh-TW" sz="1500" b="0" i="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Portal</a:t>
                      </a:r>
                      <a:r>
                        <a:rPr lang="zh-TW" altLang="en-US" sz="150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zh-TW" sz="1500" b="0" i="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Dev.</a:t>
                      </a:r>
                      <a:endParaRPr lang="en-US" sz="1500" b="0" i="0" dirty="0">
                        <a:solidFill>
                          <a:prstClr val="white"/>
                        </a:solidFill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011621"/>
                  </a:ext>
                </a:extLst>
              </a:tr>
              <a:tr h="545363"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en-US" altLang="zh-TW" sz="1500" b="0" i="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Testing (Staging Site)</a:t>
                      </a:r>
                      <a:endParaRPr lang="en-US" sz="1500" b="0" i="0" dirty="0">
                        <a:solidFill>
                          <a:prstClr val="white"/>
                        </a:solidFill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653877"/>
                  </a:ext>
                </a:extLst>
              </a:tr>
              <a:tr h="545363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b="0" i="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Document</a:t>
                      </a:r>
                      <a:r>
                        <a:rPr lang="zh-TW" altLang="en-US" sz="150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zh-TW" sz="1500" b="0" i="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&amp;</a:t>
                      </a:r>
                      <a:r>
                        <a:rPr lang="zh-TW" altLang="en-US" sz="150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zh-TW" sz="1500" b="0" i="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Training</a:t>
                      </a:r>
                      <a:endParaRPr lang="en-US" sz="1500" b="0" i="0" dirty="0">
                        <a:solidFill>
                          <a:prstClr val="white"/>
                        </a:solidFill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0138000"/>
                  </a:ext>
                </a:extLst>
              </a:tr>
              <a:tr h="545363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500" dirty="0">
                          <a:solidFill>
                            <a:prstClr val="white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Deployment (Live Site)</a:t>
                      </a:r>
                      <a:endParaRPr lang="en-US" sz="1500" b="0" i="0" dirty="0">
                        <a:solidFill>
                          <a:prstClr val="white"/>
                        </a:solidFill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TW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446468"/>
                  </a:ext>
                </a:extLst>
              </a:tr>
            </a:tbl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C6AC9AE1-7AA6-8345-BA73-4248A0584186}"/>
              </a:ext>
            </a:extLst>
          </p:cNvPr>
          <p:cNvSpPr/>
          <p:nvPr/>
        </p:nvSpPr>
        <p:spPr>
          <a:xfrm>
            <a:off x="10400429" y="1154471"/>
            <a:ext cx="13168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solidFill>
                  <a:prstClr val="white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Go </a:t>
            </a:r>
            <a:r>
              <a:rPr lang="zh-TW" altLang="en-US" sz="14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Live </a:t>
            </a:r>
            <a:r>
              <a:rPr lang="en-US" altLang="zh-TW" sz="1400" dirty="0">
                <a:solidFill>
                  <a:prstClr val="white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10/1</a:t>
            </a:r>
            <a:endParaRPr lang="en-US" sz="1400" dirty="0">
              <a:solidFill>
                <a:prstClr val="white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28" name="文本框 8">
            <a:extLst>
              <a:ext uri="{FF2B5EF4-FFF2-40B4-BE49-F238E27FC236}">
                <a16:creationId xmlns:a16="http://schemas.microsoft.com/office/drawing/2014/main" id="{32D88A9C-0231-0C46-83CD-C785E95D8EF9}"/>
              </a:ext>
            </a:extLst>
          </p:cNvPr>
          <p:cNvSpPr txBox="1"/>
          <p:nvPr/>
        </p:nvSpPr>
        <p:spPr>
          <a:xfrm>
            <a:off x="4818569" y="6297814"/>
            <a:ext cx="1413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Finish</a:t>
            </a:r>
            <a:endParaRPr kumimoji="1" lang="zh-CN" altLang="en-US" sz="135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五边形 3">
            <a:extLst>
              <a:ext uri="{FF2B5EF4-FFF2-40B4-BE49-F238E27FC236}">
                <a16:creationId xmlns:a16="http://schemas.microsoft.com/office/drawing/2014/main" id="{1C2C0AE7-C01E-2E4D-B98A-54F2C27A5591}"/>
              </a:ext>
            </a:extLst>
          </p:cNvPr>
          <p:cNvSpPr/>
          <p:nvPr/>
        </p:nvSpPr>
        <p:spPr>
          <a:xfrm>
            <a:off x="3259394" y="2435140"/>
            <a:ext cx="1949946" cy="209764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12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30" name="五边形 3">
            <a:extLst>
              <a:ext uri="{FF2B5EF4-FFF2-40B4-BE49-F238E27FC236}">
                <a16:creationId xmlns:a16="http://schemas.microsoft.com/office/drawing/2014/main" id="{4474AA47-3D87-354E-927D-3D85426A8AAD}"/>
              </a:ext>
            </a:extLst>
          </p:cNvPr>
          <p:cNvSpPr/>
          <p:nvPr/>
        </p:nvSpPr>
        <p:spPr>
          <a:xfrm>
            <a:off x="6876711" y="2976864"/>
            <a:ext cx="1485625" cy="209764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prstClr val="white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31" name="Oval 22">
            <a:extLst>
              <a:ext uri="{FF2B5EF4-FFF2-40B4-BE49-F238E27FC236}">
                <a16:creationId xmlns:a16="http://schemas.microsoft.com/office/drawing/2014/main" id="{83916E7C-28BF-334B-8A2F-D2F741E6E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3158" y="1556891"/>
            <a:ext cx="277015" cy="276762"/>
          </a:xfrm>
          <a:prstGeom prst="ellipse">
            <a:avLst/>
          </a:prstGeom>
          <a:solidFill>
            <a:srgbClr val="FF737F"/>
          </a:solidFill>
          <a:ln w="38100">
            <a:solidFill>
              <a:schemeClr val="bg1"/>
            </a:solidFill>
            <a:round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五边形 3">
            <a:extLst>
              <a:ext uri="{FF2B5EF4-FFF2-40B4-BE49-F238E27FC236}">
                <a16:creationId xmlns:a16="http://schemas.microsoft.com/office/drawing/2014/main" id="{E0FBB36D-0B43-154C-BA5C-607F5CBFF0C2}"/>
              </a:ext>
            </a:extLst>
          </p:cNvPr>
          <p:cNvSpPr/>
          <p:nvPr/>
        </p:nvSpPr>
        <p:spPr>
          <a:xfrm>
            <a:off x="8362337" y="3518588"/>
            <a:ext cx="1069257" cy="209764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prstClr val="white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33" name="五边形 3">
            <a:extLst>
              <a:ext uri="{FF2B5EF4-FFF2-40B4-BE49-F238E27FC236}">
                <a16:creationId xmlns:a16="http://schemas.microsoft.com/office/drawing/2014/main" id="{0BED06A1-E652-1647-853A-462433F78C31}"/>
              </a:ext>
            </a:extLst>
          </p:cNvPr>
          <p:cNvSpPr/>
          <p:nvPr/>
        </p:nvSpPr>
        <p:spPr>
          <a:xfrm>
            <a:off x="8185355" y="4060312"/>
            <a:ext cx="1485625" cy="209764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prstClr val="white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34" name="五边形 3">
            <a:extLst>
              <a:ext uri="{FF2B5EF4-FFF2-40B4-BE49-F238E27FC236}">
                <a16:creationId xmlns:a16="http://schemas.microsoft.com/office/drawing/2014/main" id="{74B21FD1-6766-5247-B652-AF7D456D2693}"/>
              </a:ext>
            </a:extLst>
          </p:cNvPr>
          <p:cNvSpPr/>
          <p:nvPr/>
        </p:nvSpPr>
        <p:spPr>
          <a:xfrm>
            <a:off x="9608757" y="4602036"/>
            <a:ext cx="712663" cy="209764"/>
          </a:xfrm>
          <a:prstGeom prst="homePlat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prstClr val="white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35" name="五边形 3">
            <a:extLst>
              <a:ext uri="{FF2B5EF4-FFF2-40B4-BE49-F238E27FC236}">
                <a16:creationId xmlns:a16="http://schemas.microsoft.com/office/drawing/2014/main" id="{9394ABEC-4A68-7C49-9BAD-5BFD0B8D60C6}"/>
              </a:ext>
            </a:extLst>
          </p:cNvPr>
          <p:cNvSpPr/>
          <p:nvPr/>
        </p:nvSpPr>
        <p:spPr>
          <a:xfrm>
            <a:off x="10038727" y="5143760"/>
            <a:ext cx="587485" cy="209764"/>
          </a:xfrm>
          <a:prstGeom prst="homePlat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prstClr val="white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36" name="五边形 3">
            <a:extLst>
              <a:ext uri="{FF2B5EF4-FFF2-40B4-BE49-F238E27FC236}">
                <a16:creationId xmlns:a16="http://schemas.microsoft.com/office/drawing/2014/main" id="{8123323D-FAC8-C748-AEEB-0DE01DA856EB}"/>
              </a:ext>
            </a:extLst>
          </p:cNvPr>
          <p:cNvSpPr/>
          <p:nvPr/>
        </p:nvSpPr>
        <p:spPr>
          <a:xfrm>
            <a:off x="10509613" y="5685483"/>
            <a:ext cx="680560" cy="210838"/>
          </a:xfrm>
          <a:prstGeom prst="homePlat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prstClr val="white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E5AEC0-0553-7443-A9EA-4D28693935E7}"/>
              </a:ext>
            </a:extLst>
          </p:cNvPr>
          <p:cNvSpPr/>
          <p:nvPr/>
        </p:nvSpPr>
        <p:spPr>
          <a:xfrm>
            <a:off x="6400347" y="6349641"/>
            <a:ext cx="307860" cy="2261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A9DDDB2-65F9-6146-A4A2-E6B15BEADAD6}"/>
              </a:ext>
            </a:extLst>
          </p:cNvPr>
          <p:cNvSpPr/>
          <p:nvPr/>
        </p:nvSpPr>
        <p:spPr>
          <a:xfrm>
            <a:off x="4485309" y="6320847"/>
            <a:ext cx="307860" cy="2261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文本框 8">
            <a:extLst>
              <a:ext uri="{FF2B5EF4-FFF2-40B4-BE49-F238E27FC236}">
                <a16:creationId xmlns:a16="http://schemas.microsoft.com/office/drawing/2014/main" id="{4B361430-DBCA-9D48-AF10-1B5446A49F7A}"/>
              </a:ext>
            </a:extLst>
          </p:cNvPr>
          <p:cNvSpPr txBox="1"/>
          <p:nvPr/>
        </p:nvSpPr>
        <p:spPr>
          <a:xfrm>
            <a:off x="6771847" y="6297814"/>
            <a:ext cx="1413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</a:t>
            </a:r>
            <a:r>
              <a:rPr kumimoji="1" lang="zh-TW" altLang="en-US" sz="13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1" lang="en-US" altLang="zh-TW" sz="13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progress</a:t>
            </a:r>
            <a:endParaRPr kumimoji="1" lang="zh-CN" altLang="en-US" sz="135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419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0A1E29D-A735-2B69-7F54-CC3ED494C91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A2AB66-3FA7-BB66-D8CD-3D582842980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835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4DB4DE53-2DCF-A3B8-ECB1-8B5BEAA24A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653E2E-4385-C65D-C4F5-861D543963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92F85A-B8A1-74D1-38A6-D17F954EB9F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44309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42B14836-23A9-F89B-FB8F-58F3D35CCB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9BB569-9686-5791-7AA0-4F2A874BDC4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81819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3319CC7E-A20C-C14C-6433-946AB3D689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7DBC2A-CA6A-D9A9-80DD-B76D47214F0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9930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4B70-586D-444D-A1DF-445DFFEF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REGIONAL</a:t>
            </a:r>
            <a:r>
              <a:rPr lang="zh-TW" altLang="en-US" dirty="0"/>
              <a:t> </a:t>
            </a:r>
            <a:r>
              <a:rPr lang="en-US" altLang="zh-TW" dirty="0"/>
              <a:t>CONCEPT</a:t>
            </a:r>
            <a:endParaRPr lang="en-TW" dirty="0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E664AAF9-4F43-9846-8311-0C1FD8486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048547"/>
              </p:ext>
            </p:extLst>
          </p:nvPr>
        </p:nvGraphicFramePr>
        <p:xfrm>
          <a:off x="604610" y="1576677"/>
          <a:ext cx="2804938" cy="46717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804938">
                  <a:extLst>
                    <a:ext uri="{9D8B030D-6E8A-4147-A177-3AD203B41FA5}">
                      <a16:colId xmlns:a16="http://schemas.microsoft.com/office/drawing/2014/main" val="236780724"/>
                    </a:ext>
                  </a:extLst>
                </a:gridCol>
              </a:tblGrid>
              <a:tr h="520613">
                <a:tc>
                  <a:txBody>
                    <a:bodyPr/>
                    <a:lstStyle/>
                    <a:p>
                      <a:endParaRPr lang="en-TW" b="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0D6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27927"/>
                  </a:ext>
                </a:extLst>
              </a:tr>
              <a:tr h="4310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Single RMS Operation Independently</a:t>
                      </a:r>
                    </a:p>
                  </a:txBody>
                  <a:tcPr marL="70195" marR="70195" marT="35097" marB="35097" anchor="ctr">
                    <a:lnL w="12700" cmpd="sng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D6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799213"/>
                  </a:ext>
                </a:extLst>
              </a:tr>
              <a:tr h="5587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Permission Control</a:t>
                      </a:r>
                    </a:p>
                  </a:txBody>
                  <a:tcPr marL="70195" marR="70195" marT="35097" marB="35097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777767"/>
                  </a:ext>
                </a:extLst>
              </a:tr>
              <a:tr h="4310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UI and Function Design</a:t>
                      </a:r>
                    </a:p>
                  </a:txBody>
                  <a:tcPr marL="70195" marR="70195" marT="35097" marB="35097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100925"/>
                  </a:ext>
                </a:extLst>
              </a:tr>
              <a:tr h="5587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Data sharing</a:t>
                      </a:r>
                    </a:p>
                  </a:txBody>
                  <a:tcPr marL="70195" marR="70195" marT="35097" marB="35097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615696"/>
                  </a:ext>
                </a:extLst>
              </a:tr>
              <a:tr h="6205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Master Indices Data </a:t>
                      </a:r>
                      <a:b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Person, Vehicle, Location)</a:t>
                      </a:r>
                    </a:p>
                  </a:txBody>
                  <a:tcPr marL="70195" marR="70195" marT="35097" marB="35097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255446"/>
                  </a:ext>
                </a:extLst>
              </a:tr>
              <a:tr h="4310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Big Data Analysis</a:t>
                      </a:r>
                    </a:p>
                  </a:txBody>
                  <a:tcPr marL="70195" marR="70195" marT="35097" marB="35097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930031"/>
                  </a:ext>
                </a:extLst>
              </a:tr>
              <a:tr h="5599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Hardware Costs</a:t>
                      </a:r>
                    </a:p>
                  </a:txBody>
                  <a:tcPr marL="70195" marR="70195" marT="35097" marB="35097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336677"/>
                  </a:ext>
                </a:extLst>
              </a:tr>
              <a:tr h="5599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HR Costs</a:t>
                      </a:r>
                    </a:p>
                  </a:txBody>
                  <a:tcPr marL="70195" marR="70195" marT="35097" marB="35097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80256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003B65-1E66-2349-A12B-5511F7808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540210"/>
              </p:ext>
            </p:extLst>
          </p:nvPr>
        </p:nvGraphicFramePr>
        <p:xfrm>
          <a:off x="3413960" y="1583635"/>
          <a:ext cx="4007658" cy="466476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07658">
                  <a:extLst>
                    <a:ext uri="{9D8B030D-6E8A-4147-A177-3AD203B41FA5}">
                      <a16:colId xmlns:a16="http://schemas.microsoft.com/office/drawing/2014/main" val="2348745313"/>
                    </a:ext>
                  </a:extLst>
                </a:gridCol>
              </a:tblGrid>
              <a:tr h="5056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Single Unit</a:t>
                      </a:r>
                    </a:p>
                  </a:txBody>
                  <a:tcPr marL="70025" marR="70025" marT="35013" marB="35013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414442"/>
                  </a:ext>
                </a:extLst>
              </a:tr>
              <a:tr h="430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Yes</a:t>
                      </a:r>
                    </a:p>
                  </a:txBody>
                  <a:tcPr marL="70025" marR="70025" marT="35013" marB="35013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13092"/>
                  </a:ext>
                </a:extLst>
              </a:tr>
              <a:tr h="5578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Single RMS internal permission setup</a:t>
                      </a:r>
                    </a:p>
                  </a:txBody>
                  <a:tcPr marL="69135" marR="69135" marT="34568" marB="34568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115635"/>
                  </a:ext>
                </a:extLst>
              </a:tr>
              <a:tr h="430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N/A</a:t>
                      </a:r>
                    </a:p>
                  </a:txBody>
                  <a:tcPr marL="69135" marR="69135" marT="34568" marB="34568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190199"/>
                  </a:ext>
                </a:extLst>
              </a:tr>
              <a:tr h="5578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Higher cost 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share by interface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 marL="69135" marR="69135" marT="34568" marB="34568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80753"/>
                  </a:ext>
                </a:extLst>
              </a:tr>
              <a:tr h="6026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Updating data between systems via a point-to-point interface; more costly</a:t>
                      </a:r>
                    </a:p>
                  </a:txBody>
                  <a:tcPr marL="69135" marR="69135" marT="34568" marB="34568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380316"/>
                  </a:ext>
                </a:extLst>
              </a:tr>
              <a:tr h="4304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Lesser benefit 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collecting data from single agency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9135" marR="69135" marT="34568" marB="34568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239187"/>
                  </a:ext>
                </a:extLst>
              </a:tr>
              <a:tr h="5747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Higher cost </a:t>
                      </a:r>
                      <a:b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one set of hardware system for one agency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9135" marR="69135" marT="34568" marB="34568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400986"/>
                  </a:ext>
                </a:extLst>
              </a:tr>
              <a:tr h="5747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Higher cost </a:t>
                      </a:r>
                      <a:b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one IT department for one agency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9135" marR="69135" marT="34568" marB="34568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3F3F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84120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916E2C-83B5-DA49-BDC4-E9FAA8A58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710350"/>
              </p:ext>
            </p:extLst>
          </p:nvPr>
        </p:nvGraphicFramePr>
        <p:xfrm>
          <a:off x="7426030" y="1583634"/>
          <a:ext cx="4239506" cy="466476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239506">
                  <a:extLst>
                    <a:ext uri="{9D8B030D-6E8A-4147-A177-3AD203B41FA5}">
                      <a16:colId xmlns:a16="http://schemas.microsoft.com/office/drawing/2014/main" val="27033840"/>
                    </a:ext>
                  </a:extLst>
                </a:gridCol>
              </a:tblGrid>
              <a:tr h="5025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Regional </a:t>
                      </a: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en-US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InfoShare</a:t>
                      </a: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D6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63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41574"/>
                  </a:ext>
                </a:extLst>
              </a:tr>
              <a:tr h="427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Yes</a:t>
                      </a: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D6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415321"/>
                  </a:ext>
                </a:extLst>
              </a:tr>
              <a:tr h="5699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Cross-Region RMS permission control by agencies at different levels</a:t>
                      </a: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63BA">
                        <a:alpha val="103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425625"/>
                  </a:ext>
                </a:extLst>
              </a:tr>
              <a:tr h="427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Customizable UI and function fulfill agencies’ needs</a:t>
                      </a: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085535"/>
                  </a:ext>
                </a:extLst>
              </a:tr>
              <a:tr h="5699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Central data management, data accessible by permission control</a:t>
                      </a: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63BA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193919"/>
                  </a:ext>
                </a:extLst>
              </a:tr>
              <a:tr h="5989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Data sharing with all agencies</a:t>
                      </a: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125118"/>
                  </a:ext>
                </a:extLst>
              </a:tr>
              <a:tr h="427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More benefit 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collecting data from all agencies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63BA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49291"/>
                  </a:ext>
                </a:extLst>
              </a:tr>
              <a:tr h="5699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Lower cost </a:t>
                      </a:r>
                      <a:b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only one set of hardware system for all agencies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372873"/>
                  </a:ext>
                </a:extLst>
              </a:tr>
              <a:tr h="5699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Lower cost</a:t>
                      </a:r>
                      <a:b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only one IT department 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to maintain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63BA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215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072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51BC2-9713-DA41-ABF2-09E5BA5D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81DFE3-839A-3D4A-977E-251714DC4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200735"/>
              </p:ext>
            </p:extLst>
          </p:nvPr>
        </p:nvGraphicFramePr>
        <p:xfrm>
          <a:off x="838200" y="1583635"/>
          <a:ext cx="10515600" cy="466476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70338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427549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456938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59699613"/>
                    </a:ext>
                  </a:extLst>
                </a:gridCol>
              </a:tblGrid>
              <a:tr h="518307"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63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63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63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63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41574"/>
                  </a:ext>
                </a:extLst>
              </a:tr>
              <a:tr h="518307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415321"/>
                  </a:ext>
                </a:extLst>
              </a:tr>
              <a:tr h="518307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  <a:alpha val="1037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  <a:alpha val="1037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  <a:alpha val="1037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  <a:alpha val="1037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425625"/>
                  </a:ext>
                </a:extLst>
              </a:tr>
              <a:tr h="518307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085535"/>
                  </a:ext>
                </a:extLst>
              </a:tr>
              <a:tr h="518307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4B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4B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4B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4B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193919"/>
                  </a:ext>
                </a:extLst>
              </a:tr>
              <a:tr h="518307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125118"/>
                  </a:ext>
                </a:extLst>
              </a:tr>
              <a:tr h="518307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4B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4B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4B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4B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49291"/>
                  </a:ext>
                </a:extLst>
              </a:tr>
              <a:tr h="518307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372873"/>
                  </a:ext>
                </a:extLst>
              </a:tr>
              <a:tr h="518307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4B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4B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4B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Verdana" panose="020B0604030504040204" pitchFamily="34" charset="0"/>
                        <a:cs typeface="Segoe UI" panose="020B0502040204020203" pitchFamily="34" charset="0"/>
                      </a:endParaRPr>
                    </a:p>
                  </a:txBody>
                  <a:tcPr marL="68269" marR="68269" marT="34135" marB="34135"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4B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215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488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53C6-DDF5-0644-B0D4-4396AE9AC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700895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EC222-E8A7-3C46-A2D9-72513FA91A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71692" y="2468878"/>
            <a:ext cx="8892972" cy="959603"/>
          </a:xfrm>
        </p:spPr>
        <p:txBody>
          <a:bodyPr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THANK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YOU</a:t>
            </a:r>
            <a:endParaRPr lang="en-T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204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noAutofit/>
      </a:bodyPr>
      <a:lstStyle>
        <a:defPPr algn="l">
          <a:defRPr sz="1600" b="0" dirty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3387</TotalTime>
  <Words>244</Words>
  <Application>Microsoft Macintosh PowerPoint</Application>
  <PresentationFormat>寬螢幕</PresentationFormat>
  <Paragraphs>67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Lato</vt:lpstr>
      <vt:lpstr>Calibri</vt:lpstr>
      <vt:lpstr>Open Sans</vt:lpstr>
      <vt:lpstr>Verdana</vt:lpstr>
      <vt:lpstr>Arial</vt:lpstr>
      <vt:lpstr>Segoe UI</vt:lpstr>
      <vt:lpstr>Office Theme</vt:lpstr>
      <vt:lpstr>CSI TAIWAN</vt:lpstr>
      <vt:lpstr>AGENDA</vt:lpstr>
      <vt:lpstr>PROJECT PLAN</vt:lpstr>
      <vt:lpstr>PowerPoint 簡報</vt:lpstr>
      <vt:lpstr>PowerPoint 簡報</vt:lpstr>
      <vt:lpstr>PowerPoint 簡報</vt:lpstr>
      <vt:lpstr>PowerPoint 簡報</vt:lpstr>
      <vt:lpstr>REGIONAL CONCEPT</vt:lpstr>
      <vt:lpstr>PowerPoint 簡報</vt:lpstr>
      <vt:lpstr>PowerPoint 簡報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CSI TECHNOLOGY GROUP</dc:title>
  <dc:creator>Ruby Du</dc:creator>
  <cp:lastModifiedBy>Joyie Tsai</cp:lastModifiedBy>
  <cp:revision>56</cp:revision>
  <dcterms:created xsi:type="dcterms:W3CDTF">2021-10-05T05:38:30Z</dcterms:created>
  <dcterms:modified xsi:type="dcterms:W3CDTF">2026-07-29T06:47:49Z</dcterms:modified>
</cp:coreProperties>
</file>